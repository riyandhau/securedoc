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5" r:id="rId6"/>
    <p:sldId id="266" r:id="rId7"/>
    <p:sldId id="267" r:id="rId8"/>
    <p:sldId id="260" r:id="rId9"/>
    <p:sldId id="270" r:id="rId10"/>
    <p:sldId id="268" r:id="rId11"/>
    <p:sldId id="269" r:id="rId12"/>
    <p:sldId id="261" r:id="rId13"/>
    <p:sldId id="262" r:id="rId14"/>
    <p:sldId id="263" r:id="rId15"/>
    <p:sldId id="264" r:id="rId16"/>
  </p:sldIdLst>
  <p:sldSz cx="12192000" cy="6858000"/>
  <p:notesSz cx="6858000" cy="12192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8" roundtripDataSignature="AMtx7mjIsXRCWzrL+kiOogotghxaKy3ai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4E9A"/>
    <a:srgbClr val="009EDE"/>
    <a:srgbClr val="004F8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customschemas.google.com/relationships/presentationmetadata" Target="meta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" name="Google Shape;26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" name="Google Shape;38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" name="Google Shape;49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50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">
          <a:extLst>
            <a:ext uri="{FF2B5EF4-FFF2-40B4-BE49-F238E27FC236}">
              <a16:creationId xmlns:a16="http://schemas.microsoft.com/office/drawing/2014/main" id="{1A5C281E-7107-8274-0AD7-07246FC249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4:notes">
            <a:extLst>
              <a:ext uri="{FF2B5EF4-FFF2-40B4-BE49-F238E27FC236}">
                <a16:creationId xmlns:a16="http://schemas.microsoft.com/office/drawing/2014/main" id="{033FB277-0922-4546-BA45-4F52F7B0A1F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" name="Google Shape;49;p4:notes">
            <a:extLst>
              <a:ext uri="{FF2B5EF4-FFF2-40B4-BE49-F238E27FC236}">
                <a16:creationId xmlns:a16="http://schemas.microsoft.com/office/drawing/2014/main" id="{1EB320A2-90D5-0841-AE1E-45EB04F51EC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50;p4:notes">
            <a:extLst>
              <a:ext uri="{FF2B5EF4-FFF2-40B4-BE49-F238E27FC236}">
                <a16:creationId xmlns:a16="http://schemas.microsoft.com/office/drawing/2014/main" id="{E7D9EFDA-F03D-DA43-54F0-BFFAF98A03C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96796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be8eb86bf3_3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0" name="Google Shape;60;g3be8eb86bf3_3_6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Google Shape;61;g3be8eb86bf3_3_6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>
          <a:extLst>
            <a:ext uri="{FF2B5EF4-FFF2-40B4-BE49-F238E27FC236}">
              <a16:creationId xmlns:a16="http://schemas.microsoft.com/office/drawing/2014/main" id="{08F1E3F5-E654-6D54-2FF7-5EABCAE79D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be8eb86bf3_3_60:notes">
            <a:extLst>
              <a:ext uri="{FF2B5EF4-FFF2-40B4-BE49-F238E27FC236}">
                <a16:creationId xmlns:a16="http://schemas.microsoft.com/office/drawing/2014/main" id="{AF0E1E68-8160-9DEF-B9A0-DF16A8245D6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0" name="Google Shape;60;g3be8eb86bf3_3_60:notes">
            <a:extLst>
              <a:ext uri="{FF2B5EF4-FFF2-40B4-BE49-F238E27FC236}">
                <a16:creationId xmlns:a16="http://schemas.microsoft.com/office/drawing/2014/main" id="{43FE7EC4-BD33-D12D-E9AB-942A0D49C75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1" name="Google Shape;61;g3be8eb86bf3_3_60:notes">
            <a:extLst>
              <a:ext uri="{FF2B5EF4-FFF2-40B4-BE49-F238E27FC236}">
                <a16:creationId xmlns:a16="http://schemas.microsoft.com/office/drawing/2014/main" id="{1C982ABD-C740-33CD-CF1B-0BDFCFF3ADC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1074973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11</a:t>
            </a:fld>
            <a:endParaRPr lang="en-US"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0856497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3" name="Google Shape;73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5" name="Google Shape;85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be8eb86bf3_3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6" name="Google Shape;96;g3be8eb86bf3_3_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g3be8eb86bf3_3_2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8" name="Google Shape;108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502139" y="5517894"/>
            <a:ext cx="6533142" cy="147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Montserrat"/>
              <a:buNone/>
            </a:pPr>
            <a:r>
              <a:rPr lang="en-US" sz="1600" b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PRESENTED BY (Team </a:t>
            </a:r>
            <a:r>
              <a:rPr lang="en-US" sz="1600" b="1" dirty="0" err="1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ByteForge</a:t>
            </a:r>
            <a:r>
              <a:rPr lang="en-US" sz="1600" b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):</a:t>
            </a:r>
          </a:p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Montserrat"/>
              <a:buNone/>
            </a:pPr>
            <a:r>
              <a:rPr lang="en-US" sz="1600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Aayush Khatri	(KCE082BCT002)</a:t>
            </a:r>
          </a:p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Montserrat"/>
              <a:buNone/>
            </a:pPr>
            <a:r>
              <a:rPr lang="en-US" sz="1600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Binit Maharjan	(KCE082BCT012)</a:t>
            </a:r>
          </a:p>
          <a:p>
            <a:pPr>
              <a:buClr>
                <a:srgbClr val="333333"/>
              </a:buClr>
              <a:buSzPts val="1800"/>
            </a:pPr>
            <a:r>
              <a:rPr lang="en-US" sz="1600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Biraj Khatri	(KCE082BCT013)</a:t>
            </a:r>
          </a:p>
          <a:p>
            <a:pPr>
              <a:buClr>
                <a:srgbClr val="333333"/>
              </a:buClr>
              <a:buSzPts val="1800"/>
            </a:pPr>
            <a:r>
              <a:rPr lang="en-US" sz="1600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Riyan </a:t>
            </a:r>
            <a:r>
              <a:rPr lang="en-US" sz="1600" dirty="0" err="1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Dhaubhadel</a:t>
            </a:r>
            <a:r>
              <a:rPr lang="en-US" sz="1600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  (KCE082BCT032)</a:t>
            </a:r>
            <a:endParaRPr lang="en-US" sz="1600" i="1" dirty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788048" y="3516302"/>
            <a:ext cx="10589500" cy="11790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25943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5165"/>
              <a:buFont typeface="Montserrat"/>
              <a:buNone/>
            </a:pPr>
            <a:r>
              <a:rPr lang="en-US" sz="2000" b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A Major Project Presentation on </a:t>
            </a:r>
          </a:p>
          <a:p>
            <a:pPr lvl="0" algn="ctr">
              <a:lnSpc>
                <a:spcPct val="125943"/>
              </a:lnSpc>
              <a:buClr>
                <a:srgbClr val="333333"/>
              </a:buClr>
              <a:buSzPts val="5165"/>
            </a:pPr>
            <a:r>
              <a:rPr lang="en-US" sz="2000" b="0" i="0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Secure Document Management System Using Steganography(</a:t>
            </a:r>
            <a:r>
              <a:rPr lang="en-GB" sz="2000" b="1" dirty="0" err="1"/>
              <a:t>Steganshield</a:t>
            </a:r>
            <a:r>
              <a:rPr lang="en-GB" b="1" dirty="0"/>
              <a:t>)</a:t>
            </a:r>
            <a:endParaRPr sz="2000" b="1" dirty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602548" y="4716930"/>
            <a:ext cx="10960500" cy="7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401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20"/>
              <a:buFont typeface="Montserrat"/>
              <a:buNone/>
            </a:pPr>
            <a:r>
              <a:rPr lang="en-US" sz="1620" b="0" i="0" u="none" strike="noStrike" cap="none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Date: 10th August 2026</a:t>
            </a:r>
            <a:endParaRPr sz="1620" dirty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0" name="Google Shape;20;p1"/>
          <p:cNvPicPr preferRelativeResize="0"/>
          <p:nvPr/>
        </p:nvPicPr>
        <p:blipFill>
          <a:blip r:embed="rId3">
            <a:alphaModFix/>
          </a:blip>
          <a:srcRect t="304" b="304"/>
          <a:stretch/>
        </p:blipFill>
        <p:spPr>
          <a:xfrm>
            <a:off x="502139" y="481018"/>
            <a:ext cx="1514399" cy="1505199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1"/>
          <p:cNvSpPr/>
          <p:nvPr/>
        </p:nvSpPr>
        <p:spPr>
          <a:xfrm>
            <a:off x="2016538" y="658152"/>
            <a:ext cx="8510020" cy="256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Times New Roman"/>
              <a:buNone/>
            </a:pPr>
            <a:r>
              <a:rPr lang="en-US" sz="5150" dirty="0">
                <a:solidFill>
                  <a:schemeClr val="tx1"/>
                </a:solidFill>
                <a:latin typeface="Montserrat" panose="00000500000000000000" pitchFamily="2" charset="0"/>
                <a:ea typeface="Times New Roman"/>
                <a:cs typeface="Times New Roman"/>
                <a:sym typeface="Times New Roman"/>
              </a:rPr>
              <a:t>Tribhuvan University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Times New Roman"/>
              <a:buNone/>
            </a:pPr>
            <a:r>
              <a:rPr lang="en-US" sz="5150" dirty="0">
                <a:solidFill>
                  <a:schemeClr val="tx1"/>
                </a:solidFill>
                <a:latin typeface="Montserrat" panose="00000500000000000000" pitchFamily="2" charset="0"/>
                <a:ea typeface="Calibri"/>
                <a:cs typeface="Times New Roman"/>
                <a:sym typeface="Times New Roman"/>
              </a:rPr>
              <a:t>Institute of Engineering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Times New Roman"/>
              <a:buNone/>
            </a:pPr>
            <a:r>
              <a:rPr lang="en-US" sz="5150" dirty="0" err="1">
                <a:solidFill>
                  <a:schemeClr val="tx1"/>
                </a:solidFill>
                <a:latin typeface="Montserrat" panose="00000500000000000000" pitchFamily="2" charset="0"/>
                <a:ea typeface="Calibri"/>
                <a:cs typeface="Times New Roman"/>
                <a:sym typeface="Times New Roman"/>
              </a:rPr>
              <a:t>Khwopa</a:t>
            </a:r>
            <a:r>
              <a:rPr lang="en-US" sz="5150" dirty="0">
                <a:solidFill>
                  <a:schemeClr val="tx1"/>
                </a:solidFill>
                <a:latin typeface="Montserrat" panose="00000500000000000000" pitchFamily="2" charset="0"/>
                <a:ea typeface="Calibri"/>
                <a:cs typeface="Times New Roman"/>
                <a:sym typeface="Times New Roman"/>
              </a:rPr>
              <a:t> College of Engineering</a:t>
            </a:r>
            <a:endParaRPr sz="5150" dirty="0">
              <a:solidFill>
                <a:schemeClr val="tx1"/>
              </a:solidFill>
              <a:latin typeface="Montserrat" panose="00000500000000000000" pitchFamily="2" charset="0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 dirty="0">
              <a:solidFill>
                <a:schemeClr val="tx1"/>
              </a:solidFill>
              <a:latin typeface="Montserrat" panose="00000500000000000000" pitchFamily="2" charset="0"/>
            </a:endParaRPr>
          </a:p>
        </p:txBody>
      </p:sp>
      <p:sp>
        <p:nvSpPr>
          <p:cNvPr id="3" name="Google Shape;19;p1">
            <a:extLst>
              <a:ext uri="{FF2B5EF4-FFF2-40B4-BE49-F238E27FC236}">
                <a16:creationId xmlns:a16="http://schemas.microsoft.com/office/drawing/2014/main" id="{4372787E-C974-DA5F-EF0C-53D88F86BCEB}"/>
              </a:ext>
            </a:extLst>
          </p:cNvPr>
          <p:cNvSpPr/>
          <p:nvPr/>
        </p:nvSpPr>
        <p:spPr>
          <a:xfrm>
            <a:off x="6956623" y="5265255"/>
            <a:ext cx="4830137" cy="7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buClr>
                <a:srgbClr val="333333"/>
              </a:buClr>
              <a:buSzPts val="1800"/>
            </a:pPr>
            <a:r>
              <a:rPr lang="en-US" sz="1600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SUPERVISED BY: 	Er. Dinesh Man Gothe</a:t>
            </a:r>
          </a:p>
          <a:p>
            <a:pPr lvl="0">
              <a:buClr>
                <a:srgbClr val="333333"/>
              </a:buClr>
              <a:buSzPts val="1800"/>
            </a:pPr>
            <a:r>
              <a:rPr lang="en-US" sz="1600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		HOD, Computer Engineering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259338" y="5151495"/>
            <a:ext cx="9646920" cy="27432"/>
          </a:xfrm>
          <a:prstGeom prst="rect">
            <a:avLst/>
          </a:prstGeom>
          <a:solidFill>
            <a:srgbClr val="C99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"/>
          <p:cNvSpPr/>
          <p:nvPr/>
        </p:nvSpPr>
        <p:spPr>
          <a:xfrm>
            <a:off x="0" y="362901"/>
            <a:ext cx="12188952" cy="509906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25862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3190"/>
              <a:buFont typeface="Montserrat"/>
              <a:buNone/>
            </a:pPr>
            <a:r>
              <a:rPr lang="en-US" sz="3000" b="1" i="0" u="none" strike="noStrike" cap="non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Presentation Outlines</a:t>
            </a:r>
            <a:endParaRPr sz="3000" b="1" i="0" u="none" strike="noStrike" cap="none" dirty="0">
              <a:solidFill>
                <a:schemeClr val="dk1"/>
              </a:solidFill>
            </a:endParaRPr>
          </a:p>
        </p:txBody>
      </p:sp>
      <p:sp>
        <p:nvSpPr>
          <p:cNvPr id="30" name="Google Shape;30;p2"/>
          <p:cNvSpPr/>
          <p:nvPr/>
        </p:nvSpPr>
        <p:spPr>
          <a:xfrm>
            <a:off x="1552225" y="1305275"/>
            <a:ext cx="8786100" cy="37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marR="0" lvl="0" indent="-365760" algn="l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C99700"/>
              </a:buClr>
              <a:buSzPts val="2160"/>
              <a:buFont typeface="Montserrat"/>
              <a:buAutoNum type="arabicPeriod"/>
            </a:pPr>
            <a:r>
              <a:rPr lang="en-US" sz="1600" b="0" i="0" u="none" strike="noStrike" cap="none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Introduction</a:t>
            </a:r>
            <a:endParaRPr sz="2200" dirty="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365760" algn="l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C99700"/>
              </a:buClr>
              <a:buSzPts val="2160"/>
              <a:buFont typeface="Montserrat"/>
              <a:buAutoNum type="arabicPeriod"/>
            </a:pPr>
            <a:r>
              <a:rPr lang="en-US" sz="1600" b="0" i="0" u="none" strike="noStrike" cap="none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Problem Statement</a:t>
            </a:r>
            <a:endParaRPr sz="2200" dirty="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365760" algn="l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C99700"/>
              </a:buClr>
              <a:buSzPts val="2160"/>
              <a:buFont typeface="Montserrat"/>
              <a:buAutoNum type="arabicPeriod"/>
            </a:pPr>
            <a:r>
              <a:rPr lang="en-US" sz="1600" b="0" i="0" u="none" strike="noStrike" cap="none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Objectives</a:t>
            </a:r>
            <a:endParaRPr sz="2200" dirty="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365760" algn="l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C99700"/>
              </a:buClr>
              <a:buSzPts val="2160"/>
              <a:buFont typeface="Montserrat"/>
              <a:buAutoNum type="arabicPeriod"/>
            </a:pPr>
            <a:r>
              <a:rPr lang="en-US" sz="1600" b="0" i="0" u="none" strike="noStrike" cap="none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Tools &amp; Technologies</a:t>
            </a:r>
            <a:endParaRPr sz="2200" dirty="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365760" algn="l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C99700"/>
              </a:buClr>
              <a:buSzPts val="2160"/>
              <a:buFont typeface="Montserrat"/>
              <a:buAutoNum type="arabicPeriod"/>
            </a:pPr>
            <a:r>
              <a:rPr lang="en-US" sz="1600" b="0" i="0" u="none" strike="noStrike" cap="none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System Architecture</a:t>
            </a:r>
            <a:endParaRPr sz="2200" dirty="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365760" algn="l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C99700"/>
              </a:buClr>
              <a:buSzPts val="2160"/>
              <a:buFont typeface="Montserrat"/>
              <a:buAutoNum type="arabicPeriod"/>
            </a:pPr>
            <a:r>
              <a:rPr lang="en-US" sz="1600" b="0" i="0" u="none" strike="noStrike" cap="none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Methodology</a:t>
            </a:r>
            <a:endParaRPr lang="en-US" sz="1600" dirty="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365760">
              <a:lnSpc>
                <a:spcPct val="120000"/>
              </a:lnSpc>
              <a:spcBef>
                <a:spcPts val="300"/>
              </a:spcBef>
              <a:buClr>
                <a:srgbClr val="C99700"/>
              </a:buClr>
              <a:buSzPts val="2160"/>
              <a:buFont typeface="Montserrat"/>
              <a:buAutoNum type="arabicPeriod"/>
            </a:pPr>
            <a:r>
              <a:rPr lang="en-GB" sz="1600" dirty="0">
                <a:solidFill>
                  <a:schemeClr val="tx1"/>
                </a:solidFill>
                <a:latin typeface="Montserrat" panose="00000500000000000000" pitchFamily="2" charset="0"/>
              </a:rPr>
              <a:t>LSB Method</a:t>
            </a:r>
            <a:endParaRPr sz="1600" dirty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365760" algn="l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C99700"/>
              </a:buClr>
              <a:buSzPts val="2160"/>
              <a:buFont typeface="Montserrat"/>
              <a:buAutoNum type="arabicPeriod"/>
            </a:pPr>
            <a:r>
              <a:rPr lang="en-US" sz="1600" b="0" i="0" u="none" strike="noStrike" cap="none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System Modules</a:t>
            </a:r>
            <a:endParaRPr sz="2200" dirty="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365760" algn="l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C99700"/>
              </a:buClr>
              <a:buSzPts val="2160"/>
              <a:buFont typeface="Montserrat"/>
              <a:buAutoNum type="arabicPeriod"/>
            </a:pPr>
            <a:r>
              <a:rPr lang="en-US" sz="1600" b="0" i="0" u="none" strike="noStrike" cap="none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Application Interface</a:t>
            </a:r>
            <a:endParaRPr sz="2200" dirty="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365760" algn="l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C99700"/>
              </a:buClr>
              <a:buSzPts val="2160"/>
              <a:buFont typeface="Montserrat"/>
              <a:buAutoNum type="arabicPeriod"/>
            </a:pPr>
            <a:r>
              <a:rPr lang="en-US" sz="1600" b="0" i="0" u="none" strike="noStrike" cap="none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Results and Discussion</a:t>
            </a:r>
            <a:endParaRPr sz="2200" dirty="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365760" algn="l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C99700"/>
              </a:buClr>
              <a:buSzPts val="2160"/>
              <a:buFont typeface="Montserrat"/>
              <a:buAutoNum type="arabicPeriod"/>
            </a:pPr>
            <a:r>
              <a:rPr lang="en-US" sz="1600" b="0" i="0" u="none" strike="noStrike" cap="none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Conclusion and Future Works</a:t>
            </a:r>
            <a:endParaRPr sz="2200" dirty="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365760" algn="l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C99700"/>
              </a:buClr>
              <a:buSzPts val="2160"/>
              <a:buFont typeface="Montserrat"/>
              <a:buAutoNum type="arabicPeriod"/>
            </a:pPr>
            <a:r>
              <a:rPr lang="en-US" sz="1600" b="0" i="0" u="none" strike="noStrike" cap="none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References</a:t>
            </a:r>
            <a:endParaRPr sz="2200" dirty="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" name="Google Shape;31;p2"/>
          <p:cNvSpPr/>
          <p:nvPr/>
        </p:nvSpPr>
        <p:spPr>
          <a:xfrm>
            <a:off x="11884228" y="6517935"/>
            <a:ext cx="114271" cy="191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" name="Google Shape;32;p2"/>
          <p:cNvSpPr txBox="1">
            <a:spLocks noGrp="1"/>
          </p:cNvSpPr>
          <p:nvPr>
            <p:ph type="sldNum" idx="12"/>
          </p:nvPr>
        </p:nvSpPr>
        <p:spPr>
          <a:xfrm>
            <a:off x="11826240" y="651510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fld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2"/>
          <p:cNvSpPr txBox="1"/>
          <p:nvPr/>
        </p:nvSpPr>
        <p:spPr>
          <a:xfrm>
            <a:off x="1821726" y="5840799"/>
            <a:ext cx="8545500" cy="6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endParaRPr/>
          </a:p>
        </p:txBody>
      </p:sp>
      <p:pic>
        <p:nvPicPr>
          <p:cNvPr id="34" name="Google Shape;34;p2"/>
          <p:cNvPicPr preferRelativeResize="0"/>
          <p:nvPr/>
        </p:nvPicPr>
        <p:blipFill>
          <a:blip r:embed="rId3">
            <a:alphaModFix/>
          </a:blip>
          <a:srcRect l="2" r="2"/>
          <a:stretch/>
        </p:blipFill>
        <p:spPr>
          <a:xfrm>
            <a:off x="11475720" y="402336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2"/>
          <p:cNvSpPr/>
          <p:nvPr/>
        </p:nvSpPr>
        <p:spPr>
          <a:xfrm>
            <a:off x="961784" y="6555579"/>
            <a:ext cx="10265400" cy="11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4015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"/>
              <a:buFont typeface="Montserrat"/>
              <a:buNone/>
            </a:pPr>
            <a:r>
              <a:rPr lang="en-US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KHWOPA COLLEGE OF ENGINEERING|Major Project Defense|Secure Document Management System|10th August 2026</a:t>
            </a:r>
            <a:endParaRPr sz="1000">
              <a:solidFill>
                <a:schemeClr val="dk1"/>
              </a:solidFill>
            </a:endParaRPr>
          </a:p>
          <a:p>
            <a:pPr marL="0" marR="0" lvl="0" indent="0" algn="ctr" rtl="0">
              <a:lnSpc>
                <a:spcPct val="14015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"/>
              <a:buFont typeface="Montserrat"/>
              <a:buNone/>
            </a:pPr>
            <a:endParaRPr sz="1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0" y="877824"/>
            <a:ext cx="12191695" cy="41148"/>
          </a:xfrm>
          <a:prstGeom prst="rect">
            <a:avLst/>
          </a:prstGeom>
          <a:solidFill>
            <a:srgbClr val="C99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"/>
          <p:cNvSpPr/>
          <p:nvPr/>
        </p:nvSpPr>
        <p:spPr>
          <a:xfrm>
            <a:off x="0" y="362901"/>
            <a:ext cx="12188952" cy="509906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25862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3190"/>
              <a:buFont typeface="Montserrat"/>
              <a:buNone/>
            </a:pPr>
            <a:r>
              <a:rPr lang="en-US" sz="3190" b="1" i="0" u="none" strike="noStrike" cap="non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1. Introduction</a:t>
            </a:r>
            <a:endParaRPr sz="1800" b="1" i="0" u="none" strike="noStrike" cap="none" dirty="0">
              <a:solidFill>
                <a:schemeClr val="dk1"/>
              </a:solidFill>
            </a:endParaRPr>
          </a:p>
        </p:txBody>
      </p:sp>
      <p:sp>
        <p:nvSpPr>
          <p:cNvPr id="42" name="Google Shape;42;p3"/>
          <p:cNvSpPr/>
          <p:nvPr/>
        </p:nvSpPr>
        <p:spPr>
          <a:xfrm>
            <a:off x="961780" y="1041105"/>
            <a:ext cx="10095900" cy="364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85750" marR="0" lvl="0" indent="-247650" algn="l" rtl="0">
              <a:lnSpc>
                <a:spcPct val="113500"/>
              </a:lnSpc>
              <a:spcBef>
                <a:spcPts val="800"/>
              </a:spcBef>
              <a:spcAft>
                <a:spcPts val="0"/>
              </a:spcAft>
              <a:buClr>
                <a:srgbClr val="C99700"/>
              </a:buClr>
              <a:buSzPts val="1400"/>
              <a:buFont typeface="Noto Sans Symbols"/>
              <a:buChar char="●"/>
            </a:pPr>
            <a:r>
              <a:rPr lang="en-US" sz="1800" b="0" i="0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Many people keep important documents like IDs, certificates, and records on their computer.</a:t>
            </a:r>
            <a:endParaRPr i="1" dirty="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285750" marR="0" lvl="0" indent="-247650" algn="l" rtl="0">
              <a:lnSpc>
                <a:spcPct val="113500"/>
              </a:lnSpc>
              <a:spcBef>
                <a:spcPts val="800"/>
              </a:spcBef>
              <a:spcAft>
                <a:spcPts val="0"/>
              </a:spcAft>
              <a:buClr>
                <a:srgbClr val="C99700"/>
              </a:buClr>
              <a:buSzPts val="1400"/>
              <a:buFont typeface="Noto Sans Symbols"/>
              <a:buChar char="●"/>
            </a:pPr>
            <a:r>
              <a:rPr lang="en-US" sz="1800" b="0" i="0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Normal storage only depends on the computer login, so it is not very safe.</a:t>
            </a:r>
            <a:endParaRPr i="1" dirty="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285750" marR="0" lvl="0" indent="-247650" algn="l" rtl="0">
              <a:lnSpc>
                <a:spcPct val="113500"/>
              </a:lnSpc>
              <a:spcBef>
                <a:spcPts val="800"/>
              </a:spcBef>
              <a:spcAft>
                <a:spcPts val="0"/>
              </a:spcAft>
              <a:buClr>
                <a:srgbClr val="C99700"/>
              </a:buClr>
              <a:buSzPts val="1400"/>
              <a:buFont typeface="Noto Sans Symbols"/>
              <a:buChar char="●"/>
            </a:pPr>
            <a:r>
              <a:rPr lang="en-US" sz="1800" b="0" i="0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Encryption can lock a file, but it still shows that a secret file exists.</a:t>
            </a:r>
            <a:endParaRPr i="1" dirty="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285750" marR="0" lvl="0" indent="-247650" algn="l" rtl="0">
              <a:lnSpc>
                <a:spcPct val="113500"/>
              </a:lnSpc>
              <a:spcBef>
                <a:spcPts val="800"/>
              </a:spcBef>
              <a:spcAft>
                <a:spcPts val="0"/>
              </a:spcAft>
              <a:buClr>
                <a:srgbClr val="C99700"/>
              </a:buClr>
              <a:buSzPts val="1400"/>
              <a:buFont typeface="Noto Sans Symbols"/>
              <a:buChar char="●"/>
            </a:pPr>
            <a:r>
              <a:rPr lang="en-US" sz="1800" b="0" i="0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Steganography hides data inside a normal image, so no one knows a secret is there.</a:t>
            </a:r>
            <a:endParaRPr i="1" dirty="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285750" marR="0" lvl="0" indent="-247650" algn="l" rtl="0">
              <a:lnSpc>
                <a:spcPct val="113500"/>
              </a:lnSpc>
              <a:spcBef>
                <a:spcPts val="800"/>
              </a:spcBef>
              <a:spcAft>
                <a:spcPts val="0"/>
              </a:spcAft>
              <a:buClr>
                <a:srgbClr val="C99700"/>
              </a:buClr>
              <a:buSzPts val="1400"/>
              <a:buFont typeface="Noto Sans Symbols"/>
              <a:buChar char="●"/>
            </a:pPr>
            <a:r>
              <a:rPr lang="en-US" sz="1800" b="0" i="0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Our project puts login, encryption, and steganography together in one app.</a:t>
            </a:r>
            <a:endParaRPr i="1" dirty="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285750" marR="0" lvl="0" indent="-247650" algn="l" rtl="0">
              <a:lnSpc>
                <a:spcPct val="113500"/>
              </a:lnSpc>
              <a:spcBef>
                <a:spcPts val="800"/>
              </a:spcBef>
              <a:spcAft>
                <a:spcPts val="0"/>
              </a:spcAft>
              <a:buClr>
                <a:srgbClr val="C99700"/>
              </a:buClr>
              <a:buSzPts val="1400"/>
              <a:buFont typeface="Noto Sans Symbols"/>
              <a:buChar char="●"/>
            </a:pPr>
            <a:r>
              <a:rPr lang="en-US" sz="1800" b="0" i="0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We first built it as a command-line tool, then as a PyQt5 desktop app.</a:t>
            </a:r>
            <a:endParaRPr i="1" dirty="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3" name="Google Shape;43;p3"/>
          <p:cNvSpPr/>
          <p:nvPr/>
        </p:nvSpPr>
        <p:spPr>
          <a:xfrm>
            <a:off x="11884228" y="6517935"/>
            <a:ext cx="114271" cy="191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44;p3"/>
          <p:cNvSpPr txBox="1">
            <a:spLocks noGrp="1"/>
          </p:cNvSpPr>
          <p:nvPr>
            <p:ph type="sldNum" idx="12"/>
          </p:nvPr>
        </p:nvSpPr>
        <p:spPr>
          <a:xfrm>
            <a:off x="11826240" y="651510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3"/>
          <p:cNvSpPr/>
          <p:nvPr/>
        </p:nvSpPr>
        <p:spPr>
          <a:xfrm>
            <a:off x="961784" y="6555579"/>
            <a:ext cx="10265400" cy="11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 algn="ctr">
              <a:lnSpc>
                <a:spcPct val="140151"/>
              </a:lnSpc>
              <a:buClr>
                <a:schemeClr val="dk1"/>
              </a:buClr>
              <a:buSzPts val="660"/>
            </a:pPr>
            <a:r>
              <a:rPr lang="en-US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KHWOPA COLLEGE OF ENGINEERING|Major Project Defense|Secure Document Management System|10th August 2026</a:t>
            </a:r>
            <a:endParaRPr lang="en-US" sz="1000">
              <a:solidFill>
                <a:schemeClr val="dk1"/>
              </a:solidFill>
            </a:endParaRPr>
          </a:p>
          <a:p>
            <a:pPr lvl="0" algn="ctr">
              <a:lnSpc>
                <a:spcPct val="140151"/>
              </a:lnSpc>
              <a:buSzPts val="660"/>
            </a:pPr>
            <a:endParaRPr lang="en-US" sz="10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6" name="Google Shape;46;p3"/>
          <p:cNvPicPr preferRelativeResize="0"/>
          <p:nvPr/>
        </p:nvPicPr>
        <p:blipFill>
          <a:blip r:embed="rId3">
            <a:alphaModFix/>
          </a:blip>
          <a:srcRect l="2" r="2"/>
          <a:stretch/>
        </p:blipFill>
        <p:spPr>
          <a:xfrm>
            <a:off x="11475720" y="402336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Rectangle 46"/>
          <p:cNvSpPr/>
          <p:nvPr/>
        </p:nvSpPr>
        <p:spPr>
          <a:xfrm>
            <a:off x="0" y="877824"/>
            <a:ext cx="12191695" cy="41148"/>
          </a:xfrm>
          <a:prstGeom prst="rect">
            <a:avLst/>
          </a:prstGeom>
          <a:solidFill>
            <a:srgbClr val="C99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4"/>
          <p:cNvSpPr/>
          <p:nvPr/>
        </p:nvSpPr>
        <p:spPr>
          <a:xfrm>
            <a:off x="0" y="362901"/>
            <a:ext cx="12188952" cy="509906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25862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3190"/>
              <a:buFont typeface="Montserrat"/>
              <a:buNone/>
            </a:pPr>
            <a:r>
              <a:rPr lang="en-US" sz="319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2. </a:t>
            </a:r>
            <a:r>
              <a:rPr lang="en-US" sz="319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Problem Statement</a:t>
            </a:r>
            <a:endParaRPr sz="1800" b="1" i="0" u="none" strike="noStrike" cap="none">
              <a:solidFill>
                <a:schemeClr val="dk1"/>
              </a:solidFill>
            </a:endParaRPr>
          </a:p>
        </p:txBody>
      </p:sp>
      <p:sp>
        <p:nvSpPr>
          <p:cNvPr id="53" name="Google Shape;53;p4"/>
          <p:cNvSpPr/>
          <p:nvPr/>
        </p:nvSpPr>
        <p:spPr>
          <a:xfrm>
            <a:off x="11874706" y="6517935"/>
            <a:ext cx="123794" cy="191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4"/>
          <p:cNvSpPr txBox="1">
            <a:spLocks noGrp="1"/>
          </p:cNvSpPr>
          <p:nvPr>
            <p:ph type="sldNum" idx="12"/>
          </p:nvPr>
        </p:nvSpPr>
        <p:spPr>
          <a:xfrm>
            <a:off x="11826240" y="651510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fld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4"/>
          <p:cNvSpPr txBox="1"/>
          <p:nvPr/>
        </p:nvSpPr>
        <p:spPr>
          <a:xfrm>
            <a:off x="960120" y="1371600"/>
            <a:ext cx="100584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l" rtl="0">
              <a:lnSpc>
                <a:spcPct val="140000"/>
              </a:lnSpc>
              <a:spcBef>
                <a:spcPts val="900"/>
              </a:spcBef>
              <a:spcAft>
                <a:spcPts val="0"/>
              </a:spcAft>
              <a:buClr>
                <a:srgbClr val="C99700"/>
              </a:buClr>
              <a:buSzPts val="1400"/>
              <a:buFont typeface="Montserrat"/>
              <a:buChar char="●"/>
            </a:pPr>
            <a:r>
              <a:rPr lang="en-US" sz="1800" b="0" i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Most student projects show only one security idea, such as just login or just encryption.</a:t>
            </a:r>
            <a:endParaRPr i="1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317500" algn="l" rtl="0">
              <a:lnSpc>
                <a:spcPct val="140000"/>
              </a:lnSpc>
              <a:spcBef>
                <a:spcPts val="900"/>
              </a:spcBef>
              <a:spcAft>
                <a:spcPts val="0"/>
              </a:spcAft>
              <a:buClr>
                <a:srgbClr val="C99700"/>
              </a:buClr>
              <a:buSzPts val="1400"/>
              <a:buFont typeface="Montserrat"/>
              <a:buChar char="●"/>
            </a:pPr>
            <a:r>
              <a:rPr lang="en-US" sz="1800" b="0" i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They do not show how these methods can work together in one app.</a:t>
            </a:r>
            <a:endParaRPr i="1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317500" algn="l" rtl="0">
              <a:lnSpc>
                <a:spcPct val="140000"/>
              </a:lnSpc>
              <a:spcBef>
                <a:spcPts val="900"/>
              </a:spcBef>
              <a:spcAft>
                <a:spcPts val="0"/>
              </a:spcAft>
              <a:buClr>
                <a:srgbClr val="C99700"/>
              </a:buClr>
              <a:buSzPts val="1400"/>
              <a:buFont typeface="Montserrat"/>
              <a:buChar char="●"/>
            </a:pPr>
            <a:r>
              <a:rPr lang="en-US" sz="1800" b="0" i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Our project fills this gap by giving each layer a clear job.</a:t>
            </a:r>
            <a:endParaRPr i="1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317500" algn="l" rtl="0">
              <a:lnSpc>
                <a:spcPct val="140000"/>
              </a:lnSpc>
              <a:spcBef>
                <a:spcPts val="900"/>
              </a:spcBef>
              <a:spcAft>
                <a:spcPts val="0"/>
              </a:spcAft>
              <a:buClr>
                <a:srgbClr val="C99700"/>
              </a:buClr>
              <a:buSzPts val="1400"/>
              <a:buFont typeface="Montserrat"/>
              <a:buChar char="●"/>
            </a:pPr>
            <a:r>
              <a:rPr lang="en-US" sz="1800" b="0" i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Login checks who is allowed to use the system.</a:t>
            </a:r>
            <a:endParaRPr i="1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317500" algn="l" rtl="0">
              <a:lnSpc>
                <a:spcPct val="140000"/>
              </a:lnSpc>
              <a:spcBef>
                <a:spcPts val="900"/>
              </a:spcBef>
              <a:spcAft>
                <a:spcPts val="0"/>
              </a:spcAft>
              <a:buClr>
                <a:srgbClr val="C99700"/>
              </a:buClr>
              <a:buSzPts val="1400"/>
              <a:buFont typeface="Montserrat"/>
              <a:buChar char="●"/>
            </a:pPr>
            <a:r>
              <a:rPr lang="en-US" sz="1800" b="0" i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Encryption keeps the saved document unreadable to others.</a:t>
            </a:r>
            <a:endParaRPr i="1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317500" algn="l" rtl="0">
              <a:lnSpc>
                <a:spcPct val="140000"/>
              </a:lnSpc>
              <a:spcBef>
                <a:spcPts val="900"/>
              </a:spcBef>
              <a:spcAft>
                <a:spcPts val="0"/>
              </a:spcAft>
              <a:buClr>
                <a:srgbClr val="C99700"/>
              </a:buClr>
              <a:buSzPts val="1400"/>
              <a:buFont typeface="Montserrat"/>
              <a:buChar char="●"/>
            </a:pPr>
            <a:r>
              <a:rPr lang="en-US" sz="1800" b="0" i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Steganography hides a small secret, like a note or password, inside an image.</a:t>
            </a:r>
            <a:endParaRPr i="1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6" name="Google Shape;56;p4"/>
          <p:cNvSpPr/>
          <p:nvPr/>
        </p:nvSpPr>
        <p:spPr>
          <a:xfrm>
            <a:off x="961784" y="6555579"/>
            <a:ext cx="10265400" cy="11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 algn="ctr">
              <a:lnSpc>
                <a:spcPct val="140151"/>
              </a:lnSpc>
              <a:buClr>
                <a:schemeClr val="dk1"/>
              </a:buClr>
              <a:buSzPts val="660"/>
            </a:pPr>
            <a:r>
              <a:rPr lang="en-US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KHWOPA COLLEGE OF ENGINEERING|Major Project Defense|Secure Document Management System|10th August 2026</a:t>
            </a:r>
            <a:endParaRPr lang="en-US" sz="1000">
              <a:solidFill>
                <a:schemeClr val="dk1"/>
              </a:solidFill>
            </a:endParaRPr>
          </a:p>
          <a:p>
            <a:pPr lvl="0" algn="ctr">
              <a:lnSpc>
                <a:spcPct val="140151"/>
              </a:lnSpc>
              <a:buSzPts val="660"/>
            </a:pPr>
            <a:endParaRPr lang="en-US" sz="10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57" name="Google Shape;57;p4"/>
          <p:cNvPicPr preferRelativeResize="0"/>
          <p:nvPr/>
        </p:nvPicPr>
        <p:blipFill>
          <a:blip r:embed="rId3">
            <a:alphaModFix/>
          </a:blip>
          <a:srcRect l="2" r="2"/>
          <a:stretch/>
        </p:blipFill>
        <p:spPr>
          <a:xfrm>
            <a:off x="11475720" y="402336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Rectangle 57"/>
          <p:cNvSpPr/>
          <p:nvPr/>
        </p:nvSpPr>
        <p:spPr>
          <a:xfrm>
            <a:off x="0" y="877824"/>
            <a:ext cx="12191695" cy="41148"/>
          </a:xfrm>
          <a:prstGeom prst="rect">
            <a:avLst/>
          </a:prstGeom>
          <a:solidFill>
            <a:srgbClr val="C99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">
          <a:extLst>
            <a:ext uri="{FF2B5EF4-FFF2-40B4-BE49-F238E27FC236}">
              <a16:creationId xmlns:a16="http://schemas.microsoft.com/office/drawing/2014/main" id="{366D3D36-B0BF-3FD7-143D-92B7758FB2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4">
            <a:extLst>
              <a:ext uri="{FF2B5EF4-FFF2-40B4-BE49-F238E27FC236}">
                <a16:creationId xmlns:a16="http://schemas.microsoft.com/office/drawing/2014/main" id="{48FCC3C6-D6C6-CDAB-0DC4-83794DEF2812}"/>
              </a:ext>
            </a:extLst>
          </p:cNvPr>
          <p:cNvSpPr/>
          <p:nvPr/>
        </p:nvSpPr>
        <p:spPr>
          <a:xfrm>
            <a:off x="0" y="362901"/>
            <a:ext cx="12188952" cy="509906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25862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3190"/>
              <a:buFont typeface="Montserrat"/>
              <a:buNone/>
            </a:pPr>
            <a:r>
              <a:rPr lang="en-US" sz="319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3. Objectives</a:t>
            </a:r>
            <a:endParaRPr sz="1800" b="1" i="0" u="none" strike="noStrike" cap="none">
              <a:solidFill>
                <a:schemeClr val="dk1"/>
              </a:solidFill>
            </a:endParaRPr>
          </a:p>
        </p:txBody>
      </p:sp>
      <p:sp>
        <p:nvSpPr>
          <p:cNvPr id="53" name="Google Shape;53;p4">
            <a:extLst>
              <a:ext uri="{FF2B5EF4-FFF2-40B4-BE49-F238E27FC236}">
                <a16:creationId xmlns:a16="http://schemas.microsoft.com/office/drawing/2014/main" id="{3EB15B30-403E-F154-3623-484F00701D06}"/>
              </a:ext>
            </a:extLst>
          </p:cNvPr>
          <p:cNvSpPr/>
          <p:nvPr/>
        </p:nvSpPr>
        <p:spPr>
          <a:xfrm>
            <a:off x="11874706" y="6517935"/>
            <a:ext cx="123794" cy="191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4">
            <a:extLst>
              <a:ext uri="{FF2B5EF4-FFF2-40B4-BE49-F238E27FC236}">
                <a16:creationId xmlns:a16="http://schemas.microsoft.com/office/drawing/2014/main" id="{97181477-99B8-7C4C-9BA0-1DAE59EF17C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826240" y="651510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fld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4">
            <a:extLst>
              <a:ext uri="{FF2B5EF4-FFF2-40B4-BE49-F238E27FC236}">
                <a16:creationId xmlns:a16="http://schemas.microsoft.com/office/drawing/2014/main" id="{FDEE49BD-033A-808C-9D00-A56F85D17B81}"/>
              </a:ext>
            </a:extLst>
          </p:cNvPr>
          <p:cNvSpPr txBox="1"/>
          <p:nvPr/>
        </p:nvSpPr>
        <p:spPr>
          <a:xfrm>
            <a:off x="960120" y="1280160"/>
            <a:ext cx="6035040" cy="4754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l" rtl="0">
              <a:lnSpc>
                <a:spcPct val="140000"/>
              </a:lnSpc>
              <a:spcBef>
                <a:spcPts val="700"/>
              </a:spcBef>
              <a:spcAft>
                <a:spcPts val="0"/>
              </a:spcAft>
              <a:buClr>
                <a:srgbClr val="C99700"/>
              </a:buClr>
              <a:buSzPts val="1400"/>
              <a:buFont typeface="Montserrat"/>
              <a:buChar char="●"/>
            </a:pPr>
            <a:r>
              <a:rPr lang="en-US" sz="1600" b="0" i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Build a secure document app in Python using login, encryption, and steganography.</a:t>
            </a:r>
            <a:endParaRPr i="1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317500" algn="l" rtl="0">
              <a:lnSpc>
                <a:spcPct val="140000"/>
              </a:lnSpc>
              <a:spcBef>
                <a:spcPts val="700"/>
              </a:spcBef>
              <a:spcAft>
                <a:spcPts val="0"/>
              </a:spcAft>
              <a:buClr>
                <a:srgbClr val="C99700"/>
              </a:buClr>
              <a:buSzPts val="1400"/>
              <a:buFont typeface="Montserrat"/>
              <a:buChar char="●"/>
            </a:pPr>
            <a:r>
              <a:rPr lang="en-US" sz="1600" b="0" i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Store and manage documents in a safe way.</a:t>
            </a:r>
            <a:endParaRPr i="1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317500" algn="l" rtl="0">
              <a:lnSpc>
                <a:spcPct val="140000"/>
              </a:lnSpc>
              <a:spcBef>
                <a:spcPts val="700"/>
              </a:spcBef>
              <a:spcAft>
                <a:spcPts val="0"/>
              </a:spcAft>
              <a:buClr>
                <a:srgbClr val="C99700"/>
              </a:buClr>
              <a:buSzPts val="1400"/>
              <a:buFont typeface="Montserrat"/>
              <a:buChar char="●"/>
            </a:pPr>
            <a:r>
              <a:rPr lang="en-US" sz="1600" b="0" i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Hide secret data inside images with steganography.</a:t>
            </a:r>
            <a:endParaRPr i="1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317500" algn="l" rtl="0">
              <a:lnSpc>
                <a:spcPct val="140000"/>
              </a:lnSpc>
              <a:spcBef>
                <a:spcPts val="700"/>
              </a:spcBef>
              <a:spcAft>
                <a:spcPts val="0"/>
              </a:spcAft>
              <a:buClr>
                <a:srgbClr val="C99700"/>
              </a:buClr>
              <a:buSzPts val="1400"/>
              <a:buFont typeface="Montserrat"/>
              <a:buChar char="●"/>
            </a:pPr>
            <a:r>
              <a:rPr lang="en-US" sz="1600" b="0" i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Encrypt documents so they stay private.</a:t>
            </a:r>
            <a:endParaRPr i="1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317500" algn="l" rtl="0">
              <a:lnSpc>
                <a:spcPct val="140000"/>
              </a:lnSpc>
              <a:spcBef>
                <a:spcPts val="700"/>
              </a:spcBef>
              <a:spcAft>
                <a:spcPts val="0"/>
              </a:spcAft>
              <a:buClr>
                <a:srgbClr val="C99700"/>
              </a:buClr>
              <a:buSzPts val="1400"/>
              <a:buFont typeface="Montserrat"/>
              <a:buChar char="●"/>
            </a:pPr>
            <a:r>
              <a:rPr lang="en-US" sz="1600" b="0" i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Add login, search, and record-keeping features.</a:t>
            </a:r>
            <a:endParaRPr i="1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317500" algn="l" rtl="0">
              <a:lnSpc>
                <a:spcPct val="140000"/>
              </a:lnSpc>
              <a:spcBef>
                <a:spcPts val="700"/>
              </a:spcBef>
              <a:spcAft>
                <a:spcPts val="0"/>
              </a:spcAft>
              <a:buClr>
                <a:srgbClr val="C99700"/>
              </a:buClr>
              <a:buSzPts val="1400"/>
              <a:buFont typeface="Montserrat"/>
              <a:buChar char="●"/>
            </a:pPr>
            <a:r>
              <a:rPr lang="en-US" sz="1600" b="0" i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Add password tools: strength check, generator, and hash maker.</a:t>
            </a:r>
            <a:endParaRPr i="1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317500" algn="l" rtl="0">
              <a:lnSpc>
                <a:spcPct val="140000"/>
              </a:lnSpc>
              <a:spcBef>
                <a:spcPts val="700"/>
              </a:spcBef>
              <a:spcAft>
                <a:spcPts val="0"/>
              </a:spcAft>
              <a:buClr>
                <a:srgbClr val="C99700"/>
              </a:buClr>
              <a:buSzPts val="1400"/>
              <a:buFont typeface="Montserrat"/>
              <a:buChar char="●"/>
            </a:pPr>
            <a:r>
              <a:rPr lang="en-US" sz="1600" b="0" i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Make a command-line version first, then a PyQt5 GUI.</a:t>
            </a:r>
            <a:endParaRPr i="1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6" name="Google Shape;56;p4">
            <a:extLst>
              <a:ext uri="{FF2B5EF4-FFF2-40B4-BE49-F238E27FC236}">
                <a16:creationId xmlns:a16="http://schemas.microsoft.com/office/drawing/2014/main" id="{2678937C-C72F-D3F1-10B7-CBDA28AB3DFF}"/>
              </a:ext>
            </a:extLst>
          </p:cNvPr>
          <p:cNvSpPr/>
          <p:nvPr/>
        </p:nvSpPr>
        <p:spPr>
          <a:xfrm>
            <a:off x="961784" y="6555579"/>
            <a:ext cx="10265400" cy="11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 algn="ctr">
              <a:lnSpc>
                <a:spcPct val="140151"/>
              </a:lnSpc>
              <a:buClr>
                <a:schemeClr val="dk1"/>
              </a:buClr>
              <a:buSzPts val="660"/>
            </a:pPr>
            <a:r>
              <a:rPr lang="en-US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KHWOPA COLLEGE OF ENGINEERING|Major Project Defense|Secure Document Management System|10th August 2026</a:t>
            </a:r>
            <a:endParaRPr lang="en-US" sz="1000">
              <a:solidFill>
                <a:schemeClr val="dk1"/>
              </a:solidFill>
            </a:endParaRPr>
          </a:p>
          <a:p>
            <a:pPr lvl="0" algn="ctr">
              <a:lnSpc>
                <a:spcPct val="140151"/>
              </a:lnSpc>
              <a:buSzPts val="660"/>
            </a:pPr>
            <a:endParaRPr lang="en-US" sz="10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57" name="Google Shape;57;p4">
            <a:extLst>
              <a:ext uri="{FF2B5EF4-FFF2-40B4-BE49-F238E27FC236}">
                <a16:creationId xmlns:a16="http://schemas.microsoft.com/office/drawing/2014/main" id="{4A8BC783-2B4A-AF20-B0FA-7BF527F21E8B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rcRect l="2" r="2"/>
          <a:stretch/>
        </p:blipFill>
        <p:spPr>
          <a:xfrm>
            <a:off x="11475720" y="402336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Picture 57" descr="image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4769" y="1371600"/>
            <a:ext cx="3041340" cy="4160520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7315200" y="5596128"/>
            <a:ext cx="3840480" cy="3657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/>
            <a:r>
              <a:rPr sz="1100" b="0" i="0">
                <a:solidFill>
                  <a:srgbClr val="1E3A8A"/>
                </a:solidFill>
                <a:latin typeface="Montserrat"/>
              </a:rPr>
              <a:t>Figure 3.1: Use Case Diagram</a:t>
            </a:r>
          </a:p>
        </p:txBody>
      </p:sp>
      <p:sp>
        <p:nvSpPr>
          <p:cNvPr id="60" name="Rectangle 59"/>
          <p:cNvSpPr/>
          <p:nvPr/>
        </p:nvSpPr>
        <p:spPr>
          <a:xfrm>
            <a:off x="0" y="877824"/>
            <a:ext cx="12191695" cy="41148"/>
          </a:xfrm>
          <a:prstGeom prst="rect">
            <a:avLst/>
          </a:prstGeom>
          <a:solidFill>
            <a:srgbClr val="C99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8871054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"/>
          <p:cNvSpPr/>
          <p:nvPr/>
        </p:nvSpPr>
        <p:spPr>
          <a:xfrm>
            <a:off x="0" y="362901"/>
            <a:ext cx="12188952" cy="509906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25862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3190"/>
              <a:buFont typeface="Montserrat"/>
              <a:buNone/>
            </a:pPr>
            <a:r>
              <a:rPr lang="en-US" sz="3190" b="1" i="0" u="none" strike="noStrike" cap="non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4. Tools &amp; Technologies</a:t>
            </a:r>
            <a:endParaRPr sz="1800" b="1" i="0" u="none" strike="noStrike" cap="none" dirty="0">
              <a:solidFill>
                <a:schemeClr val="dk1"/>
              </a:solidFill>
            </a:endParaRPr>
          </a:p>
        </p:txBody>
      </p:sp>
      <p:sp>
        <p:nvSpPr>
          <p:cNvPr id="42" name="Google Shape;42;p3"/>
          <p:cNvSpPr/>
          <p:nvPr/>
        </p:nvSpPr>
        <p:spPr>
          <a:xfrm>
            <a:off x="960120" y="1783080"/>
            <a:ext cx="5120640" cy="3931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85750" marR="0" lvl="0" indent="-247650" algn="l" rtl="0">
              <a:lnSpc>
                <a:spcPct val="113500"/>
              </a:lnSpc>
              <a:spcBef>
                <a:spcPts val="1200"/>
              </a:spcBef>
              <a:spcAft>
                <a:spcPts val="0"/>
              </a:spcAft>
              <a:buClr>
                <a:srgbClr val="C99700"/>
              </a:buClr>
              <a:buSzPts val="1400"/>
              <a:buFont typeface="Noto Sans Symbols"/>
              <a:buChar char="●"/>
            </a:pPr>
            <a:r>
              <a:rPr lang="en-US" sz="1700" b="0" i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Python 3 — main programming language.</a:t>
            </a:r>
            <a:endParaRPr i="1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285750" marR="0" lvl="0" indent="-247650" algn="l" rtl="0">
              <a:lnSpc>
                <a:spcPct val="113500"/>
              </a:lnSpc>
              <a:spcBef>
                <a:spcPts val="1200"/>
              </a:spcBef>
              <a:spcAft>
                <a:spcPts val="0"/>
              </a:spcAft>
              <a:buClr>
                <a:srgbClr val="C99700"/>
              </a:buClr>
              <a:buSzPts val="1400"/>
              <a:buFont typeface="Noto Sans Symbols"/>
              <a:buChar char="●"/>
            </a:pPr>
            <a:r>
              <a:rPr lang="en-US" sz="1700" b="0" i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Pillow (PIL) — image processing for steganography.</a:t>
            </a:r>
            <a:endParaRPr i="1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285750" marR="0" lvl="0" indent="-247650" algn="l" rtl="0">
              <a:lnSpc>
                <a:spcPct val="113500"/>
              </a:lnSpc>
              <a:spcBef>
                <a:spcPts val="1200"/>
              </a:spcBef>
              <a:spcAft>
                <a:spcPts val="0"/>
              </a:spcAft>
              <a:buClr>
                <a:srgbClr val="C99700"/>
              </a:buClr>
              <a:buSzPts val="1400"/>
              <a:buFont typeface="Noto Sans Symbols"/>
              <a:buChar char="●"/>
            </a:pPr>
            <a:r>
              <a:rPr lang="en-US" sz="1700" b="0" i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cryptography (Fernet) — encrypts and decrypts documents.</a:t>
            </a:r>
            <a:endParaRPr i="1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285750" marR="0" lvl="0" indent="-247650" algn="l" rtl="0">
              <a:lnSpc>
                <a:spcPct val="113500"/>
              </a:lnSpc>
              <a:spcBef>
                <a:spcPts val="1200"/>
              </a:spcBef>
              <a:spcAft>
                <a:spcPts val="0"/>
              </a:spcAft>
              <a:buClr>
                <a:srgbClr val="C99700"/>
              </a:buClr>
              <a:buSzPts val="1400"/>
              <a:buFont typeface="Noto Sans Symbols"/>
              <a:buChar char="●"/>
            </a:pPr>
            <a:r>
              <a:rPr lang="en-US" sz="1700" b="0" i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hashlib — makes SHA-256, SHA-512, and MD5 hashes.</a:t>
            </a:r>
            <a:endParaRPr i="1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3" name="Google Shape;43;p3"/>
          <p:cNvSpPr/>
          <p:nvPr/>
        </p:nvSpPr>
        <p:spPr>
          <a:xfrm>
            <a:off x="11884228" y="6517935"/>
            <a:ext cx="114271" cy="191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44;p3"/>
          <p:cNvSpPr txBox="1">
            <a:spLocks noGrp="1"/>
          </p:cNvSpPr>
          <p:nvPr>
            <p:ph type="sldNum" idx="12"/>
          </p:nvPr>
        </p:nvSpPr>
        <p:spPr>
          <a:xfrm>
            <a:off x="11826240" y="651510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</a:t>
            </a:fld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3"/>
          <p:cNvSpPr/>
          <p:nvPr/>
        </p:nvSpPr>
        <p:spPr>
          <a:xfrm>
            <a:off x="961784" y="6555579"/>
            <a:ext cx="10265400" cy="11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 algn="ctr">
              <a:lnSpc>
                <a:spcPct val="140151"/>
              </a:lnSpc>
              <a:buClr>
                <a:schemeClr val="dk1"/>
              </a:buClr>
              <a:buSzPts val="660"/>
            </a:pPr>
            <a:r>
              <a:rPr lang="en-US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KHWOPA COLLEGE OF ENGINEERING|Major Project Defense|Secure Document Management System|10th August 2026</a:t>
            </a:r>
            <a:endParaRPr lang="en-US" sz="1000">
              <a:solidFill>
                <a:schemeClr val="dk1"/>
              </a:solidFill>
            </a:endParaRPr>
          </a:p>
          <a:p>
            <a:pPr lvl="0" algn="ctr">
              <a:lnSpc>
                <a:spcPct val="140151"/>
              </a:lnSpc>
              <a:buSzPts val="660"/>
            </a:pPr>
            <a:endParaRPr lang="en-US" sz="10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6" name="Google Shape;46;p3"/>
          <p:cNvPicPr preferRelativeResize="0"/>
          <p:nvPr/>
        </p:nvPicPr>
        <p:blipFill>
          <a:blip r:embed="rId2">
            <a:alphaModFix/>
          </a:blip>
          <a:srcRect l="2" r="2"/>
          <a:stretch/>
        </p:blipFill>
        <p:spPr>
          <a:xfrm>
            <a:off x="11475720" y="402336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TextBox 46"/>
          <p:cNvSpPr txBox="1"/>
          <p:nvPr/>
        </p:nvSpPr>
        <p:spPr>
          <a:xfrm>
            <a:off x="960120" y="1188720"/>
            <a:ext cx="5120640" cy="4572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800" b="1" i="0">
                <a:solidFill>
                  <a:srgbClr val="1E3A8A"/>
                </a:solidFill>
                <a:latin typeface="Montserrat"/>
              </a:rPr>
              <a:t>Language &amp; Libraries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00800" y="1188720"/>
            <a:ext cx="5120640" cy="4572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800" b="1" i="0">
                <a:solidFill>
                  <a:srgbClr val="1E3A8A"/>
                </a:solidFill>
                <a:latin typeface="Montserrat"/>
              </a:rPr>
              <a:t>Interface, Storage &amp; Tools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00800" y="1783080"/>
            <a:ext cx="512064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85750" indent="-247650">
              <a:spcBef>
                <a:spcPts val="1200"/>
              </a:spcBef>
              <a:buClr>
                <a:srgbClr val="C99700"/>
              </a:buClr>
              <a:buFont typeface="Noto Sans Symbols"/>
              <a:buChar char="●"/>
            </a:pPr>
            <a:r>
              <a:rPr sz="1700" b="0" i="0">
                <a:solidFill>
                  <a:srgbClr val="333333"/>
                </a:solidFill>
                <a:latin typeface="Montserrat"/>
              </a:rPr>
              <a:t>PyQt5 — builds the desktop interface.</a:t>
            </a:r>
          </a:p>
          <a:p>
            <a:pPr marL="285750" indent="-247650">
              <a:spcBef>
                <a:spcPts val="1200"/>
              </a:spcBef>
              <a:buClr>
                <a:srgbClr val="C99700"/>
              </a:buClr>
              <a:buFont typeface="Noto Sans Symbols"/>
              <a:buChar char="●"/>
            </a:pPr>
            <a:r>
              <a:rPr sz="1700" b="0" i="0">
                <a:solidFill>
                  <a:srgbClr val="333333"/>
                </a:solidFill>
                <a:latin typeface="Montserrat"/>
              </a:rPr>
              <a:t>JSON files — store user and document data.</a:t>
            </a:r>
          </a:p>
          <a:p>
            <a:pPr marL="285750" indent="-247650">
              <a:spcBef>
                <a:spcPts val="1200"/>
              </a:spcBef>
              <a:buClr>
                <a:srgbClr val="C99700"/>
              </a:buClr>
              <a:buFont typeface="Noto Sans Symbols"/>
              <a:buChar char="●"/>
            </a:pPr>
            <a:r>
              <a:rPr sz="1700" b="0" i="0">
                <a:solidFill>
                  <a:srgbClr val="333333"/>
                </a:solidFill>
                <a:latin typeface="Montserrat"/>
              </a:rPr>
              <a:t>Visual Studio Code — code editor for development.</a:t>
            </a:r>
          </a:p>
          <a:p>
            <a:pPr marL="285750" indent="-247650">
              <a:spcBef>
                <a:spcPts val="1200"/>
              </a:spcBef>
              <a:buClr>
                <a:srgbClr val="C99700"/>
              </a:buClr>
              <a:buFont typeface="Noto Sans Symbols"/>
              <a:buChar char="●"/>
            </a:pPr>
            <a:r>
              <a:rPr sz="1700" b="0" i="0">
                <a:solidFill>
                  <a:srgbClr val="333333"/>
                </a:solidFill>
                <a:latin typeface="Montserrat"/>
              </a:rPr>
              <a:t>Git and GitHub — version control and backup.</a:t>
            </a:r>
          </a:p>
        </p:txBody>
      </p:sp>
      <p:sp>
        <p:nvSpPr>
          <p:cNvPr id="50" name="Rectangle 49"/>
          <p:cNvSpPr/>
          <p:nvPr/>
        </p:nvSpPr>
        <p:spPr>
          <a:xfrm>
            <a:off x="0" y="877824"/>
            <a:ext cx="12191695" cy="41148"/>
          </a:xfrm>
          <a:prstGeom prst="rect">
            <a:avLst/>
          </a:prstGeom>
          <a:solidFill>
            <a:srgbClr val="C99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960120" y="1645920"/>
            <a:ext cx="2331720" cy="29260"/>
          </a:xfrm>
          <a:prstGeom prst="rect">
            <a:avLst/>
          </a:prstGeom>
          <a:solidFill>
            <a:srgbClr val="C99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6400800" y="1645920"/>
            <a:ext cx="2880360" cy="29260"/>
          </a:xfrm>
          <a:prstGeom prst="rect">
            <a:avLst/>
          </a:prstGeom>
          <a:solidFill>
            <a:srgbClr val="C99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"/>
          <p:cNvSpPr/>
          <p:nvPr/>
        </p:nvSpPr>
        <p:spPr>
          <a:xfrm>
            <a:off x="0" y="362901"/>
            <a:ext cx="12188952" cy="509906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25862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3190"/>
              <a:buFont typeface="Montserrat"/>
              <a:buNone/>
            </a:pPr>
            <a:r>
              <a:rPr lang="en-US" sz="319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5. System Architecture</a:t>
            </a:r>
            <a:endParaRPr sz="1800" b="1" i="0" u="none" strike="noStrike" cap="none">
              <a:solidFill>
                <a:schemeClr val="dk1"/>
              </a:solidFill>
            </a:endParaRPr>
          </a:p>
        </p:txBody>
      </p:sp>
      <p:sp>
        <p:nvSpPr>
          <p:cNvPr id="42" name="Google Shape;42;p3"/>
          <p:cNvSpPr/>
          <p:nvPr/>
        </p:nvSpPr>
        <p:spPr>
          <a:xfrm>
            <a:off x="960120" y="1188720"/>
            <a:ext cx="5486400" cy="4754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85750" marR="0" lvl="0" indent="-247650" algn="l" rtl="0">
              <a:lnSpc>
                <a:spcPct val="113500"/>
              </a:lnSpc>
              <a:spcBef>
                <a:spcPts val="1000"/>
              </a:spcBef>
              <a:spcAft>
                <a:spcPts val="0"/>
              </a:spcAft>
              <a:buClr>
                <a:srgbClr val="C99700"/>
              </a:buClr>
              <a:buSzPts val="1400"/>
              <a:buFont typeface="Noto Sans Symbols"/>
              <a:buChar char="●"/>
            </a:pPr>
            <a:r>
              <a:rPr lang="en-US" sz="1800" b="0" i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The app has a PyQt5 interface on top that the user works with.</a:t>
            </a:r>
            <a:endParaRPr i="1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285750" marR="0" lvl="0" indent="-247650" algn="l" rtl="0">
              <a:lnSpc>
                <a:spcPct val="113500"/>
              </a:lnSpc>
              <a:spcBef>
                <a:spcPts val="1000"/>
              </a:spcBef>
              <a:spcAft>
                <a:spcPts val="0"/>
              </a:spcAft>
              <a:buClr>
                <a:srgbClr val="C99700"/>
              </a:buClr>
              <a:buSzPts val="1400"/>
              <a:buFont typeface="Noto Sans Symbols"/>
              <a:buChar char="●"/>
            </a:pPr>
            <a:r>
              <a:rPr lang="en-US" sz="1800" b="0" i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The interface calls separate Python modules, one for each task.</a:t>
            </a:r>
            <a:endParaRPr i="1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285750" marR="0" lvl="0" indent="-247650" algn="l" rtl="0">
              <a:lnSpc>
                <a:spcPct val="113500"/>
              </a:lnSpc>
              <a:spcBef>
                <a:spcPts val="1000"/>
              </a:spcBef>
              <a:spcAft>
                <a:spcPts val="0"/>
              </a:spcAft>
              <a:buClr>
                <a:srgbClr val="C99700"/>
              </a:buClr>
              <a:buSzPts val="1400"/>
              <a:buFont typeface="Noto Sans Symbols"/>
              <a:buChar char="●"/>
            </a:pPr>
            <a:r>
              <a:rPr lang="en-US" sz="1800" b="0" i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Documents pass through the encryption layer before they are saved.</a:t>
            </a:r>
            <a:endParaRPr i="1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285750" marR="0" lvl="0" indent="-247650" algn="l" rtl="0">
              <a:lnSpc>
                <a:spcPct val="113500"/>
              </a:lnSpc>
              <a:spcBef>
                <a:spcPts val="1000"/>
              </a:spcBef>
              <a:spcAft>
                <a:spcPts val="0"/>
              </a:spcAft>
              <a:buClr>
                <a:srgbClr val="C99700"/>
              </a:buClr>
              <a:buSzPts val="1400"/>
              <a:buFont typeface="Noto Sans Symbols"/>
              <a:buChar char="●"/>
            </a:pPr>
            <a:r>
              <a:rPr lang="en-US" sz="1800" b="0" i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Data is stored in JSON files, and secrets are hidden inside PNG images.</a:t>
            </a:r>
            <a:endParaRPr i="1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285750" marR="0" lvl="0" indent="-247650" algn="l" rtl="0">
              <a:lnSpc>
                <a:spcPct val="113500"/>
              </a:lnSpc>
              <a:spcBef>
                <a:spcPts val="1000"/>
              </a:spcBef>
              <a:spcAft>
                <a:spcPts val="0"/>
              </a:spcAft>
              <a:buClr>
                <a:srgbClr val="C99700"/>
              </a:buClr>
              <a:buSzPts val="1400"/>
              <a:buFont typeface="Noto Sans Symbols"/>
              <a:buChar char="●"/>
            </a:pPr>
            <a:r>
              <a:rPr lang="en-US" sz="1800" b="0" i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Each layer has one clear job, which keeps the design simple and safe.</a:t>
            </a:r>
            <a:endParaRPr i="1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3" name="Google Shape;43;p3"/>
          <p:cNvSpPr/>
          <p:nvPr/>
        </p:nvSpPr>
        <p:spPr>
          <a:xfrm>
            <a:off x="11884228" y="6517935"/>
            <a:ext cx="114271" cy="191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44;p3"/>
          <p:cNvSpPr txBox="1">
            <a:spLocks noGrp="1"/>
          </p:cNvSpPr>
          <p:nvPr>
            <p:ph type="sldNum" idx="12"/>
          </p:nvPr>
        </p:nvSpPr>
        <p:spPr>
          <a:xfrm>
            <a:off x="11826240" y="651510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</a:t>
            </a:fld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3"/>
          <p:cNvSpPr/>
          <p:nvPr/>
        </p:nvSpPr>
        <p:spPr>
          <a:xfrm>
            <a:off x="961784" y="6555579"/>
            <a:ext cx="10265400" cy="11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 algn="ctr">
              <a:lnSpc>
                <a:spcPct val="140151"/>
              </a:lnSpc>
              <a:buClr>
                <a:schemeClr val="dk1"/>
              </a:buClr>
              <a:buSzPts val="660"/>
            </a:pPr>
            <a:r>
              <a:rPr lang="en-US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KHWOPA COLLEGE OF ENGINEERING|Major Project Defense|Secure Document Management System|10th August 2026</a:t>
            </a:r>
            <a:endParaRPr lang="en-US" sz="1000">
              <a:solidFill>
                <a:schemeClr val="dk1"/>
              </a:solidFill>
            </a:endParaRPr>
          </a:p>
          <a:p>
            <a:pPr lvl="0" algn="ctr">
              <a:lnSpc>
                <a:spcPct val="140151"/>
              </a:lnSpc>
              <a:buSzPts val="660"/>
            </a:pPr>
            <a:endParaRPr lang="en-US" sz="10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6" name="Google Shape;46;p3"/>
          <p:cNvPicPr preferRelativeResize="0"/>
          <p:nvPr/>
        </p:nvPicPr>
        <p:blipFill>
          <a:blip r:embed="rId2">
            <a:alphaModFix/>
          </a:blip>
          <a:srcRect l="2" r="2"/>
          <a:stretch/>
        </p:blipFill>
        <p:spPr>
          <a:xfrm>
            <a:off x="11475720" y="402336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" name="Picture 46" descr="imag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8914" y="1051560"/>
            <a:ext cx="4027291" cy="4846320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6766560" y="5943600"/>
            <a:ext cx="4572000" cy="3657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/>
            <a:r>
              <a:rPr sz="1100" b="0" i="0">
                <a:solidFill>
                  <a:srgbClr val="1E3A8A"/>
                </a:solidFill>
                <a:latin typeface="Montserrat"/>
              </a:rPr>
              <a:t>Figure 5.1: System Block Diagram</a:t>
            </a:r>
          </a:p>
        </p:txBody>
      </p:sp>
      <p:sp>
        <p:nvSpPr>
          <p:cNvPr id="49" name="Rectangle 48"/>
          <p:cNvSpPr/>
          <p:nvPr/>
        </p:nvSpPr>
        <p:spPr>
          <a:xfrm>
            <a:off x="0" y="877824"/>
            <a:ext cx="12191695" cy="41148"/>
          </a:xfrm>
          <a:prstGeom prst="rect">
            <a:avLst/>
          </a:prstGeom>
          <a:solidFill>
            <a:srgbClr val="C99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be8eb86bf3_3_60"/>
          <p:cNvSpPr/>
          <p:nvPr/>
        </p:nvSpPr>
        <p:spPr>
          <a:xfrm>
            <a:off x="0" y="362901"/>
            <a:ext cx="12189000" cy="510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25862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3190"/>
              <a:buFont typeface="Montserrat"/>
              <a:buNone/>
            </a:pPr>
            <a:r>
              <a:rPr lang="en-US" sz="319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6. Methodology</a:t>
            </a:r>
            <a:endParaRPr sz="1800" b="1" i="0" u="none" strike="noStrike" cap="none" dirty="0">
              <a:solidFill>
                <a:schemeClr val="dk1"/>
              </a:solidFill>
            </a:endParaRPr>
          </a:p>
        </p:txBody>
      </p:sp>
      <p:sp>
        <p:nvSpPr>
          <p:cNvPr id="64" name="Google Shape;64;g3be8eb86bf3_3_60"/>
          <p:cNvSpPr/>
          <p:nvPr/>
        </p:nvSpPr>
        <p:spPr>
          <a:xfrm>
            <a:off x="11874706" y="6517935"/>
            <a:ext cx="123900" cy="19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g3be8eb86bf3_3_60"/>
          <p:cNvSpPr txBox="1">
            <a:spLocks noGrp="1"/>
          </p:cNvSpPr>
          <p:nvPr>
            <p:ph type="sldNum" idx="12"/>
          </p:nvPr>
        </p:nvSpPr>
        <p:spPr>
          <a:xfrm>
            <a:off x="11826240" y="6515100"/>
            <a:ext cx="8001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</a:t>
            </a:fld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g3be8eb86bf3_3_60"/>
          <p:cNvSpPr txBox="1"/>
          <p:nvPr/>
        </p:nvSpPr>
        <p:spPr>
          <a:xfrm>
            <a:off x="6675120" y="4709160"/>
            <a:ext cx="49377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>
                <a:solidFill>
                  <a:srgbClr val="1E3A8A"/>
                </a:solidFill>
                <a:latin typeface="Montserrat"/>
                <a:ea typeface="Montserrat"/>
                <a:cs typeface="Montserrat"/>
                <a:sym typeface="Montserrat"/>
              </a:rPr>
              <a:t>Figure 6.1: Add-Document Sequence Flow</a:t>
            </a:r>
            <a:endParaRPr i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7" name="Google Shape;67;g3be8eb86bf3_3_60"/>
          <p:cNvSpPr txBox="1"/>
          <p:nvPr/>
        </p:nvSpPr>
        <p:spPr>
          <a:xfrm>
            <a:off x="4232250" y="5721425"/>
            <a:ext cx="3727500" cy="36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endParaRPr/>
          </a:p>
        </p:txBody>
      </p:sp>
      <p:sp>
        <p:nvSpPr>
          <p:cNvPr id="68" name="Google Shape;68;g3be8eb86bf3_3_60"/>
          <p:cNvSpPr txBox="1"/>
          <p:nvPr/>
        </p:nvSpPr>
        <p:spPr>
          <a:xfrm>
            <a:off x="960120" y="1097280"/>
            <a:ext cx="5577840" cy="4846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rgbClr val="C99700"/>
              </a:buClr>
              <a:buSzPts val="1400"/>
              <a:buFont typeface="Montserrat"/>
              <a:buChar char="●"/>
            </a:pPr>
            <a:r>
              <a:rPr lang="en-US" sz="1400" b="0" i="0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We built and tested each module one by one, then joined them together.</a:t>
            </a:r>
            <a:endParaRPr i="1" dirty="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3175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rgbClr val="C99700"/>
              </a:buClr>
              <a:buSzPts val="1400"/>
              <a:buFont typeface="Montserrat"/>
              <a:buChar char="●"/>
            </a:pPr>
            <a:r>
              <a:rPr lang="en-US" sz="1400" b="0" i="0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Step 1 – Steganography: hide and read text in images (LSB).</a:t>
            </a:r>
            <a:endParaRPr i="1" dirty="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3175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rgbClr val="C99700"/>
              </a:buClr>
              <a:buSzPts val="1400"/>
              <a:buFont typeface="Montserrat"/>
              <a:buChar char="●"/>
            </a:pPr>
            <a:r>
              <a:rPr lang="en-US" sz="1400" b="0" i="0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Step 2 – Password tools: strength check, generator, and hashing.</a:t>
            </a:r>
            <a:endParaRPr i="1" dirty="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3175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rgbClr val="C99700"/>
              </a:buClr>
              <a:buSzPts val="1400"/>
              <a:buFont typeface="Montserrat"/>
              <a:buChar char="●"/>
            </a:pPr>
            <a:r>
              <a:rPr lang="en-US" sz="1400" b="0" i="0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Step 3 – Encryption: make keys and encrypt or decrypt files.</a:t>
            </a:r>
            <a:endParaRPr i="1" dirty="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3175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rgbClr val="C99700"/>
              </a:buClr>
              <a:buSzPts val="1400"/>
              <a:buFont typeface="Montserrat"/>
              <a:buChar char="●"/>
            </a:pPr>
            <a:r>
              <a:rPr lang="en-US" sz="1400" b="0" i="0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Step 4 – Login: store passwords safely with salted hashing.</a:t>
            </a:r>
            <a:endParaRPr i="1" dirty="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3175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rgbClr val="C99700"/>
              </a:buClr>
              <a:buSzPts val="1400"/>
              <a:buFont typeface="Montserrat"/>
              <a:buChar char="●"/>
            </a:pPr>
            <a:r>
              <a:rPr lang="en-US" sz="1400" b="0" i="0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Step 5 – Documents: add, view, search, update, and delete.</a:t>
            </a:r>
            <a:endParaRPr i="1" dirty="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3175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rgbClr val="C99700"/>
              </a:buClr>
              <a:buSzPts val="1400"/>
              <a:buFont typeface="Montserrat"/>
              <a:buChar char="●"/>
            </a:pPr>
            <a:r>
              <a:rPr lang="en-US" sz="1400" b="0" i="0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Step 6 – Join all modules in a command-line app.</a:t>
            </a:r>
            <a:endParaRPr i="1" dirty="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3175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rgbClr val="C99700"/>
              </a:buClr>
              <a:buSzPts val="1400"/>
              <a:buFont typeface="Montserrat"/>
              <a:buChar char="●"/>
            </a:pPr>
            <a:r>
              <a:rPr lang="en-US" sz="1400" b="0" i="0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Step 7 – Build the PyQt5 desktop app with tabs.</a:t>
            </a:r>
            <a:endParaRPr i="1" dirty="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9" name="Google Shape;69;g3be8eb86bf3_3_60"/>
          <p:cNvSpPr/>
          <p:nvPr/>
        </p:nvSpPr>
        <p:spPr>
          <a:xfrm>
            <a:off x="961784" y="6555579"/>
            <a:ext cx="10265400" cy="11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 algn="ctr">
              <a:lnSpc>
                <a:spcPct val="140151"/>
              </a:lnSpc>
              <a:buClr>
                <a:schemeClr val="dk1"/>
              </a:buClr>
              <a:buSzPts val="660"/>
            </a:pPr>
            <a:r>
              <a:rPr lang="en-US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KHWOPA COLLEGE OF ENGINEERING|Major Project Defense|Secure Document Management System|10th August 2026</a:t>
            </a:r>
            <a:endParaRPr lang="en-US" sz="1000">
              <a:solidFill>
                <a:schemeClr val="dk1"/>
              </a:solidFill>
            </a:endParaRPr>
          </a:p>
          <a:p>
            <a:pPr lvl="0" algn="ctr">
              <a:lnSpc>
                <a:spcPct val="140151"/>
              </a:lnSpc>
              <a:buSzPts val="660"/>
            </a:pPr>
            <a:endParaRPr lang="en-US" sz="10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70" name="Google Shape;70;g3be8eb86bf3_3_60"/>
          <p:cNvPicPr preferRelativeResize="0"/>
          <p:nvPr/>
        </p:nvPicPr>
        <p:blipFill>
          <a:blip r:embed="rId3">
            <a:alphaModFix/>
          </a:blip>
          <a:srcRect l="2" r="2"/>
          <a:stretch/>
        </p:blipFill>
        <p:spPr>
          <a:xfrm>
            <a:off x="11475720" y="402336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Picture 70" descr="image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0" y="2842260"/>
            <a:ext cx="4937760" cy="1905000"/>
          </a:xfrm>
          <a:prstGeom prst="rect">
            <a:avLst/>
          </a:prstGeom>
        </p:spPr>
      </p:pic>
      <p:sp>
        <p:nvSpPr>
          <p:cNvPr id="72" name="Rectangle 71"/>
          <p:cNvSpPr/>
          <p:nvPr/>
        </p:nvSpPr>
        <p:spPr>
          <a:xfrm>
            <a:off x="0" y="877824"/>
            <a:ext cx="12191695" cy="41148"/>
          </a:xfrm>
          <a:prstGeom prst="rect">
            <a:avLst/>
          </a:prstGeom>
          <a:solidFill>
            <a:srgbClr val="C99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>
          <a:extLst>
            <a:ext uri="{FF2B5EF4-FFF2-40B4-BE49-F238E27FC236}">
              <a16:creationId xmlns:a16="http://schemas.microsoft.com/office/drawing/2014/main" id="{D4BF5537-0671-F803-FCEC-3A1467E929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be8eb86bf3_3_60">
            <a:extLst>
              <a:ext uri="{FF2B5EF4-FFF2-40B4-BE49-F238E27FC236}">
                <a16:creationId xmlns:a16="http://schemas.microsoft.com/office/drawing/2014/main" id="{95E9FF05-BD28-2469-F621-1F2A75C33833}"/>
              </a:ext>
            </a:extLst>
          </p:cNvPr>
          <p:cNvSpPr/>
          <p:nvPr/>
        </p:nvSpPr>
        <p:spPr>
          <a:xfrm>
            <a:off x="-16" y="314632"/>
            <a:ext cx="12189000" cy="6043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 algn="ctr">
              <a:lnSpc>
                <a:spcPct val="125862"/>
              </a:lnSpc>
              <a:buClr>
                <a:srgbClr val="333333"/>
              </a:buClr>
              <a:buSzPts val="3190"/>
            </a:pPr>
            <a:r>
              <a:rPr lang="en-US" sz="3190" b="1" dirty="0">
                <a:solidFill>
                  <a:srgbClr val="FFFFFF"/>
                </a:solidFill>
                <a:latin typeface="Montserrat" panose="00000500000000000000" pitchFamily="2" charset="0"/>
                <a:ea typeface="Montserrat"/>
                <a:cs typeface="Montserrat"/>
                <a:sym typeface="Montserrat"/>
              </a:rPr>
              <a:t>7. </a:t>
            </a:r>
            <a:r>
              <a:rPr lang="en-GB" sz="3190" b="1" dirty="0">
                <a:solidFill>
                  <a:schemeClr val="bg1"/>
                </a:solidFill>
                <a:latin typeface="Montserrat" panose="00000500000000000000" pitchFamily="2" charset="0"/>
              </a:rPr>
              <a:t>How Steganography Hides Data (LSB Method)</a:t>
            </a:r>
            <a:endParaRPr sz="3190" b="1" i="0" u="none" strike="noStrike" cap="none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64" name="Google Shape;64;g3be8eb86bf3_3_60">
            <a:extLst>
              <a:ext uri="{FF2B5EF4-FFF2-40B4-BE49-F238E27FC236}">
                <a16:creationId xmlns:a16="http://schemas.microsoft.com/office/drawing/2014/main" id="{8BA90C2A-ADE5-E412-9976-057888E09646}"/>
              </a:ext>
            </a:extLst>
          </p:cNvPr>
          <p:cNvSpPr/>
          <p:nvPr/>
        </p:nvSpPr>
        <p:spPr>
          <a:xfrm>
            <a:off x="11874706" y="6517935"/>
            <a:ext cx="123900" cy="19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" panose="00000500000000000000" pitchFamily="2" charset="0"/>
            </a:endParaRPr>
          </a:p>
        </p:txBody>
      </p:sp>
      <p:sp>
        <p:nvSpPr>
          <p:cNvPr id="65" name="Google Shape;65;g3be8eb86bf3_3_60">
            <a:extLst>
              <a:ext uri="{FF2B5EF4-FFF2-40B4-BE49-F238E27FC236}">
                <a16:creationId xmlns:a16="http://schemas.microsoft.com/office/drawing/2014/main" id="{2333E622-B421-5230-820D-0E2C3508DFE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826240" y="6515100"/>
            <a:ext cx="8001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100" b="0" i="0" u="none" strike="noStrike" cap="none">
                <a:solidFill>
                  <a:schemeClr val="dk1"/>
                </a:solidFill>
                <a:latin typeface="Montserrat" panose="00000500000000000000" pitchFamily="2" charset="0"/>
                <a:sym typeface="Arial"/>
              </a:rPr>
              <a:t>9</a:t>
            </a:fld>
            <a:endParaRPr sz="1100" b="0" i="0" u="none" strike="noStrike" cap="none">
              <a:solidFill>
                <a:schemeClr val="dk1"/>
              </a:solidFill>
              <a:latin typeface="Montserrat" panose="00000500000000000000" pitchFamily="2" charset="0"/>
              <a:sym typeface="Arial"/>
            </a:endParaRPr>
          </a:p>
        </p:txBody>
      </p:sp>
      <p:sp>
        <p:nvSpPr>
          <p:cNvPr id="67" name="Google Shape;67;g3be8eb86bf3_3_60">
            <a:extLst>
              <a:ext uri="{FF2B5EF4-FFF2-40B4-BE49-F238E27FC236}">
                <a16:creationId xmlns:a16="http://schemas.microsoft.com/office/drawing/2014/main" id="{790C5B0E-CDD2-496A-2793-68B9DD238C08}"/>
              </a:ext>
            </a:extLst>
          </p:cNvPr>
          <p:cNvSpPr txBox="1"/>
          <p:nvPr/>
        </p:nvSpPr>
        <p:spPr>
          <a:xfrm>
            <a:off x="4232250" y="5721425"/>
            <a:ext cx="3727500" cy="36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endParaRPr>
              <a:latin typeface="Montserrat" panose="00000500000000000000" pitchFamily="2" charset="0"/>
            </a:endParaRPr>
          </a:p>
        </p:txBody>
      </p:sp>
      <p:sp>
        <p:nvSpPr>
          <p:cNvPr id="69" name="Google Shape;69;g3be8eb86bf3_3_60">
            <a:extLst>
              <a:ext uri="{FF2B5EF4-FFF2-40B4-BE49-F238E27FC236}">
                <a16:creationId xmlns:a16="http://schemas.microsoft.com/office/drawing/2014/main" id="{BF294D67-E72E-3FD7-4970-7600B68C4534}"/>
              </a:ext>
            </a:extLst>
          </p:cNvPr>
          <p:cNvSpPr/>
          <p:nvPr/>
        </p:nvSpPr>
        <p:spPr>
          <a:xfrm>
            <a:off x="961784" y="6721874"/>
            <a:ext cx="10265400" cy="11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 algn="ctr">
              <a:lnSpc>
                <a:spcPct val="140151"/>
              </a:lnSpc>
              <a:buClr>
                <a:schemeClr val="dk1"/>
              </a:buClr>
              <a:buSzPts val="660"/>
            </a:pPr>
            <a:r>
              <a:rPr lang="en-US" sz="1000" dirty="0">
                <a:solidFill>
                  <a:schemeClr val="dk1"/>
                </a:solidFill>
                <a:latin typeface="Montserrat" panose="00000500000000000000" pitchFamily="2" charset="0"/>
                <a:ea typeface="Montserrat"/>
                <a:cs typeface="Montserrat"/>
                <a:sym typeface="Montserrat"/>
              </a:rPr>
              <a:t>KHWOPA COLLEGE OF ENGINEERING | Major Project Defense | Secure Document Management System|10th August 2026</a:t>
            </a:r>
            <a:endParaRPr lang="en-US" sz="1000" dirty="0">
              <a:solidFill>
                <a:schemeClr val="dk1"/>
              </a:solidFill>
              <a:latin typeface="Montserrat" panose="00000500000000000000" pitchFamily="2" charset="0"/>
            </a:endParaRPr>
          </a:p>
          <a:p>
            <a:pPr lvl="0" algn="ctr">
              <a:lnSpc>
                <a:spcPct val="140151"/>
              </a:lnSpc>
              <a:buSzPts val="660"/>
            </a:pPr>
            <a:r>
              <a:rPr lang="en-US" sz="1000" dirty="0">
                <a:latin typeface="Montserrat" panose="00000500000000000000" pitchFamily="2" charset="0"/>
                <a:ea typeface="Montserrat"/>
                <a:cs typeface="Montserrat"/>
                <a:sym typeface="Montserrat"/>
              </a:rPr>
              <a:t> </a:t>
            </a:r>
          </a:p>
        </p:txBody>
      </p:sp>
      <p:pic>
        <p:nvPicPr>
          <p:cNvPr id="70" name="Google Shape;70;g3be8eb86bf3_3_60">
            <a:extLst>
              <a:ext uri="{FF2B5EF4-FFF2-40B4-BE49-F238E27FC236}">
                <a16:creationId xmlns:a16="http://schemas.microsoft.com/office/drawing/2014/main" id="{69CA513C-2224-4B7A-8460-1E3202A315E0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rcRect l="2" r="2"/>
          <a:stretch/>
        </p:blipFill>
        <p:spPr>
          <a:xfrm>
            <a:off x="11475720" y="402336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Rectangle 71">
            <a:extLst>
              <a:ext uri="{FF2B5EF4-FFF2-40B4-BE49-F238E27FC236}">
                <a16:creationId xmlns:a16="http://schemas.microsoft.com/office/drawing/2014/main" id="{2426B2A4-8DC6-48C2-4854-1FD7AD9E09A3}"/>
              </a:ext>
            </a:extLst>
          </p:cNvPr>
          <p:cNvSpPr/>
          <p:nvPr/>
        </p:nvSpPr>
        <p:spPr>
          <a:xfrm>
            <a:off x="0" y="877824"/>
            <a:ext cx="12191695" cy="41148"/>
          </a:xfrm>
          <a:prstGeom prst="rect">
            <a:avLst/>
          </a:prstGeom>
          <a:solidFill>
            <a:srgbClr val="C99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Montserrat" panose="00000500000000000000" pitchFamily="2" charset="0"/>
            </a:endParaRP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63DB46F0-6172-CEFF-F0A4-3D50374B1E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220" y="843647"/>
            <a:ext cx="4978621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Montserrat" panose="00000500000000000000" pitchFamily="2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ontserrat" panose="00000500000000000000" pitchFamily="2" charset="0"/>
              </a:rPr>
              <a:t>Each pixel has RGB values (e.g., 218, 145, 67). The message is hidden in the last bit (least significant bit) of each color channel.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ontserrat" panose="00000500000000000000" pitchFamily="2" charset="0"/>
              </a:rPr>
              <a:t>Changing that last bit only shifts the color value by ±1 — invisible to the human eye.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ontserrat" panose="00000500000000000000" pitchFamily="2" charset="0"/>
              </a:rPr>
              <a:t>One pixel = 3 bits of hidden data (1 bit each in R, G, B).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ontserrat" panose="00000500000000000000" pitchFamily="2" charset="0"/>
              </a:rPr>
              <a:t>A special marker (11111110) tells the decoder where the hidden message ends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lang="en-GB" dirty="0">
                <a:latin typeface="Montserrat" panose="00000500000000000000" pitchFamily="2" charset="0"/>
              </a:rPr>
              <a:t>LSB alone isn't secure against analysis — that's why the message is encrypted with Fernet before it's hidden, combining steganography with real encryption.</a:t>
            </a: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Montserrat" panose="00000500000000000000" pitchFamily="2" charset="0"/>
            </a:endParaRPr>
          </a:p>
          <a:p>
            <a:r>
              <a:rPr lang="en-GB" dirty="0">
                <a:latin typeface="Montserrat" panose="00000500000000000000" pitchFamily="2" charset="0"/>
              </a:rPr>
              <a:t>Capacity note 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>
                <a:latin typeface="Montserrat" panose="00000500000000000000" pitchFamily="2" charset="0"/>
              </a:rPr>
              <a:t>100×100 image → ~3,750 characters </a:t>
            </a:r>
            <a:r>
              <a:rPr lang="en-GB" dirty="0" err="1">
                <a:latin typeface="Montserrat" panose="00000500000000000000" pitchFamily="2" charset="0"/>
              </a:rPr>
              <a:t>hideable</a:t>
            </a:r>
            <a:endParaRPr lang="en-GB" dirty="0">
              <a:latin typeface="Montserrat" panose="00000500000000000000" pitchFamily="2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GB" dirty="0">
                <a:latin typeface="Montserrat" panose="00000500000000000000" pitchFamily="2" charset="0"/>
              </a:rPr>
              <a:t>1000×1000 image → ~375,000 characters </a:t>
            </a:r>
            <a:r>
              <a:rPr lang="en-GB" dirty="0" err="1">
                <a:latin typeface="Montserrat" panose="00000500000000000000" pitchFamily="2" charset="0"/>
              </a:rPr>
              <a:t>hideable</a:t>
            </a:r>
            <a:endParaRPr lang="en-GB" dirty="0">
              <a:latin typeface="Montserrat" panose="00000500000000000000" pitchFamily="2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Montserrat" panose="00000500000000000000" pitchFamily="2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1150F0E7-A471-2463-3BC6-81EED8721B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645" y="4945642"/>
            <a:ext cx="1101635" cy="91350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7BE5851-29BA-3AEB-76F4-E05951E05DA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38388" y="4945642"/>
            <a:ext cx="1101636" cy="929288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BC229B4F-CE7C-D349-4B57-E884E101C3DA}"/>
              </a:ext>
            </a:extLst>
          </p:cNvPr>
          <p:cNvSpPr txBox="1"/>
          <p:nvPr/>
        </p:nvSpPr>
        <p:spPr>
          <a:xfrm>
            <a:off x="372666" y="6006607"/>
            <a:ext cx="1974317" cy="313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Montserrat" panose="00000500000000000000" pitchFamily="2" charset="0"/>
              </a:rPr>
              <a:t>Fig 7.1 Original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112BAC8-3E05-114F-B92D-BBBB2094E200}"/>
              </a:ext>
            </a:extLst>
          </p:cNvPr>
          <p:cNvSpPr txBox="1"/>
          <p:nvPr/>
        </p:nvSpPr>
        <p:spPr>
          <a:xfrm>
            <a:off x="2061079" y="5987875"/>
            <a:ext cx="17918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Montserrat" panose="00000500000000000000" pitchFamily="2" charset="0"/>
              </a:rPr>
              <a:t>Fig 7.2 encoded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0720BE3-C6D9-8752-7C2D-80DD21F02173}"/>
              </a:ext>
            </a:extLst>
          </p:cNvPr>
          <p:cNvSpPr txBox="1"/>
          <p:nvPr/>
        </p:nvSpPr>
        <p:spPr>
          <a:xfrm>
            <a:off x="358407" y="6269962"/>
            <a:ext cx="631230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Image looks identical — no visible difference.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7F2E01C3-1270-F122-DD0F-9B73E193DB5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1553" y="1063106"/>
            <a:ext cx="6977053" cy="5232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14825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"/>
          <p:cNvSpPr/>
          <p:nvPr/>
        </p:nvSpPr>
        <p:spPr>
          <a:xfrm>
            <a:off x="0" y="362901"/>
            <a:ext cx="12188952" cy="509906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25862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3190"/>
              <a:buFont typeface="Montserrat"/>
              <a:buNone/>
            </a:pPr>
            <a:r>
              <a:rPr lang="en-US" sz="319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8</a:t>
            </a:r>
            <a:r>
              <a:rPr lang="en-US" sz="3190" b="1" i="0" u="none" strike="noStrike" cap="non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. System Modules</a:t>
            </a:r>
            <a:endParaRPr sz="1800" b="1" i="0" u="none" strike="noStrike" cap="none" dirty="0">
              <a:solidFill>
                <a:schemeClr val="dk1"/>
              </a:solidFill>
            </a:endParaRPr>
          </a:p>
        </p:txBody>
      </p:sp>
      <p:sp>
        <p:nvSpPr>
          <p:cNvPr id="42" name="Google Shape;42;p3"/>
          <p:cNvSpPr/>
          <p:nvPr/>
        </p:nvSpPr>
        <p:spPr>
          <a:xfrm>
            <a:off x="960120" y="1234440"/>
            <a:ext cx="5120640" cy="4663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85750" marR="0" lvl="0" indent="-247650" algn="l" rtl="0">
              <a:lnSpc>
                <a:spcPct val="113500"/>
              </a:lnSpc>
              <a:spcBef>
                <a:spcPts val="800"/>
              </a:spcBef>
              <a:spcAft>
                <a:spcPts val="0"/>
              </a:spcAft>
              <a:buClr>
                <a:srgbClr val="C99700"/>
              </a:buClr>
              <a:buSzPts val="1400"/>
              <a:buFont typeface="Noto Sans Symbols"/>
              <a:buChar char="●"/>
            </a:pPr>
            <a:r>
              <a:rPr lang="en-US" sz="1500" b="0" i="0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auth.py — handles register and login with salted hashing.</a:t>
            </a:r>
            <a:endParaRPr i="1" dirty="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285750" marR="0" lvl="0" indent="-247650" algn="l" rtl="0">
              <a:lnSpc>
                <a:spcPct val="113500"/>
              </a:lnSpc>
              <a:spcBef>
                <a:spcPts val="800"/>
              </a:spcBef>
              <a:spcAft>
                <a:spcPts val="0"/>
              </a:spcAft>
              <a:buClr>
                <a:srgbClr val="C99700"/>
              </a:buClr>
              <a:buSzPts val="1400"/>
              <a:buFont typeface="Noto Sans Symbols"/>
              <a:buChar char="●"/>
            </a:pPr>
            <a:r>
              <a:rPr lang="en-US" sz="1500" b="0" i="0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documents.py — adds, views, searches, and edits documents.</a:t>
            </a:r>
            <a:endParaRPr i="1" dirty="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285750" marR="0" lvl="0" indent="-247650" algn="l" rtl="0">
              <a:lnSpc>
                <a:spcPct val="113500"/>
              </a:lnSpc>
              <a:spcBef>
                <a:spcPts val="800"/>
              </a:spcBef>
              <a:spcAft>
                <a:spcPts val="0"/>
              </a:spcAft>
              <a:buClr>
                <a:srgbClr val="C99700"/>
              </a:buClr>
              <a:buSzPts val="1400"/>
              <a:buFont typeface="Noto Sans Symbols"/>
              <a:buChar char="●"/>
            </a:pPr>
            <a:r>
              <a:rPr lang="en-US" sz="1500" b="0" i="0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crypto_utils.py — encrypts and decrypts data with Fernet.</a:t>
            </a:r>
            <a:endParaRPr i="1" dirty="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285750" marR="0" lvl="0" indent="-247650" algn="l" rtl="0">
              <a:lnSpc>
                <a:spcPct val="113500"/>
              </a:lnSpc>
              <a:spcBef>
                <a:spcPts val="800"/>
              </a:spcBef>
              <a:spcAft>
                <a:spcPts val="0"/>
              </a:spcAft>
              <a:buClr>
                <a:srgbClr val="C99700"/>
              </a:buClr>
              <a:buSzPts val="1400"/>
              <a:buFont typeface="Noto Sans Symbols"/>
              <a:buChar char="●"/>
            </a:pPr>
            <a:r>
              <a:rPr lang="en-US" sz="1500" b="0" i="0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stego.py — hides and reads text inside PNG images.</a:t>
            </a:r>
            <a:endParaRPr i="1" dirty="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285750" marR="0" lvl="0" indent="-247650" algn="l" rtl="0">
              <a:lnSpc>
                <a:spcPct val="113500"/>
              </a:lnSpc>
              <a:spcBef>
                <a:spcPts val="800"/>
              </a:spcBef>
              <a:spcAft>
                <a:spcPts val="0"/>
              </a:spcAft>
              <a:buClr>
                <a:srgbClr val="C99700"/>
              </a:buClr>
              <a:buSzPts val="1400"/>
              <a:buFont typeface="Noto Sans Symbols"/>
              <a:buChar char="●"/>
            </a:pPr>
            <a:r>
              <a:rPr lang="en-US" sz="1500" b="0" i="0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password_tools.py — checks, generates, and hashes passwords.</a:t>
            </a:r>
            <a:endParaRPr i="1" dirty="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285750" marR="0" lvl="0" indent="-247650" algn="l" rtl="0">
              <a:lnSpc>
                <a:spcPct val="113500"/>
              </a:lnSpc>
              <a:spcBef>
                <a:spcPts val="800"/>
              </a:spcBef>
              <a:spcAft>
                <a:spcPts val="0"/>
              </a:spcAft>
              <a:buClr>
                <a:srgbClr val="C99700"/>
              </a:buClr>
              <a:buSzPts val="1400"/>
              <a:buFont typeface="Noto Sans Symbols"/>
              <a:buChar char="●"/>
            </a:pPr>
            <a:r>
              <a:rPr lang="en-US" sz="1500" b="0" i="0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login_window.py and main_window.py — the PyQt5 screens.</a:t>
            </a:r>
          </a:p>
          <a:p>
            <a:pPr marL="285750" lvl="0" indent="-247650">
              <a:lnSpc>
                <a:spcPct val="113500"/>
              </a:lnSpc>
              <a:spcBef>
                <a:spcPts val="800"/>
              </a:spcBef>
              <a:buClr>
                <a:srgbClr val="C99700"/>
              </a:buClr>
              <a:buSzPts val="1400"/>
              <a:buFont typeface="Noto Sans Symbols"/>
              <a:buChar char="●"/>
            </a:pPr>
            <a:r>
              <a:rPr lang="en-GB" sz="1500" i="1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stego_demo.py  - shows how LSB works</a:t>
            </a:r>
            <a:endParaRPr sz="1500" i="1" dirty="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3" name="Google Shape;43;p3"/>
          <p:cNvSpPr/>
          <p:nvPr/>
        </p:nvSpPr>
        <p:spPr>
          <a:xfrm>
            <a:off x="11884228" y="6517935"/>
            <a:ext cx="114271" cy="191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44;p3"/>
          <p:cNvSpPr txBox="1">
            <a:spLocks noGrp="1"/>
          </p:cNvSpPr>
          <p:nvPr>
            <p:ph type="sldNum" idx="12"/>
          </p:nvPr>
        </p:nvSpPr>
        <p:spPr>
          <a:xfrm>
            <a:off x="11826240" y="651510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</a:t>
            </a:fld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3"/>
          <p:cNvSpPr/>
          <p:nvPr/>
        </p:nvSpPr>
        <p:spPr>
          <a:xfrm>
            <a:off x="961784" y="6555579"/>
            <a:ext cx="10265400" cy="11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 algn="ctr">
              <a:lnSpc>
                <a:spcPct val="140151"/>
              </a:lnSpc>
              <a:buClr>
                <a:schemeClr val="dk1"/>
              </a:buClr>
              <a:buSzPts val="660"/>
            </a:pPr>
            <a:r>
              <a:rPr lang="en-US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KHWOPA COLLEGE OF ENGINEERING|Major Project Defense|Secure Document Management System|10th August 2026</a:t>
            </a:r>
            <a:endParaRPr lang="en-US" sz="1000">
              <a:solidFill>
                <a:schemeClr val="dk1"/>
              </a:solidFill>
            </a:endParaRPr>
          </a:p>
          <a:p>
            <a:pPr lvl="0" algn="ctr">
              <a:lnSpc>
                <a:spcPct val="140151"/>
              </a:lnSpc>
              <a:buSzPts val="660"/>
            </a:pPr>
            <a:endParaRPr lang="en-US" sz="10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6" name="Google Shape;46;p3"/>
          <p:cNvPicPr preferRelativeResize="0"/>
          <p:nvPr/>
        </p:nvPicPr>
        <p:blipFill>
          <a:blip r:embed="rId2">
            <a:alphaModFix/>
          </a:blip>
          <a:srcRect l="2" r="2"/>
          <a:stretch/>
        </p:blipFill>
        <p:spPr>
          <a:xfrm>
            <a:off x="11475720" y="402336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" name="Picture 46" descr="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531998"/>
            <a:ext cx="5212080" cy="2879602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6309360" y="4617720"/>
            <a:ext cx="5212080" cy="3657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/>
            <a:r>
              <a:rPr sz="1100" b="0" i="0">
                <a:solidFill>
                  <a:srgbClr val="1E3A8A"/>
                </a:solidFill>
                <a:latin typeface="Montserrat"/>
              </a:rPr>
              <a:t>Figure 7.1: Class / Module Diagram</a:t>
            </a:r>
          </a:p>
        </p:txBody>
      </p:sp>
      <p:sp>
        <p:nvSpPr>
          <p:cNvPr id="49" name="Rectangle 48"/>
          <p:cNvSpPr/>
          <p:nvPr/>
        </p:nvSpPr>
        <p:spPr>
          <a:xfrm>
            <a:off x="0" y="877824"/>
            <a:ext cx="12191695" cy="41148"/>
          </a:xfrm>
          <a:prstGeom prst="rect">
            <a:avLst/>
          </a:prstGeom>
          <a:solidFill>
            <a:srgbClr val="C99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"/>
          <p:cNvSpPr/>
          <p:nvPr/>
        </p:nvSpPr>
        <p:spPr>
          <a:xfrm>
            <a:off x="0" y="362901"/>
            <a:ext cx="12188952" cy="509906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25862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3190"/>
              <a:buFont typeface="Montserrat"/>
              <a:buNone/>
            </a:pPr>
            <a:r>
              <a:rPr lang="en-US" sz="319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9</a:t>
            </a:r>
            <a:r>
              <a:rPr lang="en-US" sz="3190" b="1" i="0" u="none" strike="noStrike" cap="non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. Application Interface</a:t>
            </a:r>
            <a:endParaRPr sz="1800" b="1" i="0" u="none" strike="noStrike" cap="none" dirty="0">
              <a:solidFill>
                <a:schemeClr val="dk1"/>
              </a:solidFill>
            </a:endParaRPr>
          </a:p>
        </p:txBody>
      </p:sp>
      <p:sp>
        <p:nvSpPr>
          <p:cNvPr id="42" name="Google Shape;42;p3"/>
          <p:cNvSpPr/>
          <p:nvPr/>
        </p:nvSpPr>
        <p:spPr>
          <a:xfrm>
            <a:off x="960120" y="960120"/>
            <a:ext cx="102412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85750" marR="0" lvl="0" indent="-247650" algn="l" rtl="0">
              <a:lnSpc>
                <a:spcPct val="113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500" b="0" i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Screens from the PyQt5 desktop application:</a:t>
            </a:r>
            <a:endParaRPr i="1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3" name="Google Shape;43;p3"/>
          <p:cNvSpPr/>
          <p:nvPr/>
        </p:nvSpPr>
        <p:spPr>
          <a:xfrm>
            <a:off x="11884228" y="6517935"/>
            <a:ext cx="114271" cy="191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44;p3"/>
          <p:cNvSpPr txBox="1">
            <a:spLocks noGrp="1"/>
          </p:cNvSpPr>
          <p:nvPr>
            <p:ph type="sldNum" idx="12"/>
          </p:nvPr>
        </p:nvSpPr>
        <p:spPr>
          <a:xfrm>
            <a:off x="11826240" y="651510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11</a:t>
            </a:fld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3"/>
          <p:cNvSpPr/>
          <p:nvPr/>
        </p:nvSpPr>
        <p:spPr>
          <a:xfrm>
            <a:off x="961784" y="6555579"/>
            <a:ext cx="10265400" cy="11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 algn="ctr">
              <a:lnSpc>
                <a:spcPct val="140151"/>
              </a:lnSpc>
              <a:buClr>
                <a:schemeClr val="dk1"/>
              </a:buClr>
              <a:buSzPts val="660"/>
            </a:pPr>
            <a:r>
              <a:rPr lang="en-US" sz="10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KHWOPA COLLEGE OF ENGINEERING | Major Project Defense | Secure Document Management System|10th August 2026</a:t>
            </a:r>
            <a:endParaRPr lang="en-US" sz="1000" dirty="0">
              <a:solidFill>
                <a:schemeClr val="dk1"/>
              </a:solidFill>
            </a:endParaRPr>
          </a:p>
          <a:p>
            <a:pPr lvl="0" algn="ctr">
              <a:lnSpc>
                <a:spcPct val="140151"/>
              </a:lnSpc>
              <a:buSzPts val="660"/>
            </a:pPr>
            <a:endParaRPr lang="en-US" sz="1000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6" name="Google Shape;46;p3"/>
          <p:cNvPicPr preferRelativeResize="0"/>
          <p:nvPr/>
        </p:nvPicPr>
        <p:blipFill>
          <a:blip r:embed="rId3">
            <a:alphaModFix/>
          </a:blip>
          <a:srcRect l="2" r="2"/>
          <a:stretch/>
        </p:blipFill>
        <p:spPr>
          <a:xfrm>
            <a:off x="11475720" y="402336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TextBox 47"/>
          <p:cNvSpPr txBox="1"/>
          <p:nvPr/>
        </p:nvSpPr>
        <p:spPr>
          <a:xfrm>
            <a:off x="1005840" y="3566160"/>
            <a:ext cx="4846320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/>
            <a:r>
              <a:rPr sz="1100" b="1" i="0">
                <a:solidFill>
                  <a:srgbClr val="1E3A8A"/>
                </a:solidFill>
                <a:latin typeface="Montserrat"/>
              </a:rPr>
              <a:t>Login / Register</a:t>
            </a:r>
          </a:p>
        </p:txBody>
      </p:sp>
      <p:pic>
        <p:nvPicPr>
          <p:cNvPr id="49" name="Picture 48" descr="image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2077" y="1417320"/>
            <a:ext cx="4443198" cy="2124866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6309360" y="3566160"/>
            <a:ext cx="4846320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/>
            <a:r>
              <a:rPr sz="1100" b="1" i="0">
                <a:solidFill>
                  <a:srgbClr val="1E3A8A"/>
                </a:solidFill>
                <a:latin typeface="Montserrat"/>
              </a:rPr>
              <a:t>Documents Tab</a:t>
            </a:r>
          </a:p>
        </p:txBody>
      </p:sp>
      <p:pic>
        <p:nvPicPr>
          <p:cNvPr id="51" name="Picture 50" descr="image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69806" y="3862226"/>
            <a:ext cx="3441291" cy="2148840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1005840" y="6130940"/>
            <a:ext cx="4846320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/>
            <a:r>
              <a:rPr sz="1100" b="1" i="0" dirty="0">
                <a:solidFill>
                  <a:srgbClr val="1E3A8A"/>
                </a:solidFill>
                <a:latin typeface="Montserrat"/>
              </a:rPr>
              <a:t>Steganography Tab</a:t>
            </a:r>
          </a:p>
        </p:txBody>
      </p:sp>
      <p:pic>
        <p:nvPicPr>
          <p:cNvPr id="53" name="Picture 52" descr="image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87381" y="3953665"/>
            <a:ext cx="4039803" cy="2103565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6710516" y="5964675"/>
            <a:ext cx="4846320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/>
            <a:r>
              <a:rPr sz="1100" b="1" i="0">
                <a:solidFill>
                  <a:srgbClr val="1E3A8A"/>
                </a:solidFill>
                <a:latin typeface="Montserrat"/>
              </a:rPr>
              <a:t>Password Tools Tab</a:t>
            </a:r>
          </a:p>
        </p:txBody>
      </p:sp>
      <p:sp>
        <p:nvSpPr>
          <p:cNvPr id="55" name="Rectangle 54"/>
          <p:cNvSpPr/>
          <p:nvPr/>
        </p:nvSpPr>
        <p:spPr>
          <a:xfrm>
            <a:off x="0" y="877824"/>
            <a:ext cx="12191695" cy="41148"/>
          </a:xfrm>
          <a:prstGeom prst="rect">
            <a:avLst/>
          </a:prstGeom>
          <a:solidFill>
            <a:srgbClr val="C99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5A77349-C2D9-B531-EA4B-28FBD5DE600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23309" y="1267659"/>
            <a:ext cx="3510692" cy="229850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7"/>
          <p:cNvSpPr/>
          <p:nvPr/>
        </p:nvSpPr>
        <p:spPr>
          <a:xfrm>
            <a:off x="0" y="362901"/>
            <a:ext cx="12188952" cy="509906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25862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3190"/>
              <a:buFont typeface="Montserrat"/>
              <a:buNone/>
            </a:pPr>
            <a:r>
              <a:rPr lang="en-US" sz="319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10. Results and Discussion</a:t>
            </a:r>
            <a:endParaRPr sz="1800" b="1" i="0" u="none" strike="noStrike" cap="none" dirty="0">
              <a:solidFill>
                <a:schemeClr val="dk1"/>
              </a:solidFill>
            </a:endParaRPr>
          </a:p>
        </p:txBody>
      </p:sp>
      <p:sp>
        <p:nvSpPr>
          <p:cNvPr id="77" name="Google Shape;77;p7"/>
          <p:cNvSpPr/>
          <p:nvPr/>
        </p:nvSpPr>
        <p:spPr>
          <a:xfrm>
            <a:off x="3413825" y="4250525"/>
            <a:ext cx="6457200" cy="6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/>
          </a:p>
        </p:txBody>
      </p:sp>
      <p:sp>
        <p:nvSpPr>
          <p:cNvPr id="78" name="Google Shape;78;p7"/>
          <p:cNvSpPr/>
          <p:nvPr/>
        </p:nvSpPr>
        <p:spPr>
          <a:xfrm>
            <a:off x="11884228" y="6517935"/>
            <a:ext cx="114271" cy="191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7"/>
          <p:cNvSpPr txBox="1">
            <a:spLocks noGrp="1"/>
          </p:cNvSpPr>
          <p:nvPr>
            <p:ph type="sldNum" idx="12"/>
          </p:nvPr>
        </p:nvSpPr>
        <p:spPr>
          <a:xfrm>
            <a:off x="11826240" y="651510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12</a:t>
            </a:fld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7"/>
          <p:cNvSpPr txBox="1"/>
          <p:nvPr/>
        </p:nvSpPr>
        <p:spPr>
          <a:xfrm>
            <a:off x="3572525" y="1256800"/>
            <a:ext cx="4575900" cy="8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endParaRPr/>
          </a:p>
        </p:txBody>
      </p:sp>
      <p:sp>
        <p:nvSpPr>
          <p:cNvPr id="81" name="Google Shape;81;p7"/>
          <p:cNvSpPr/>
          <p:nvPr/>
        </p:nvSpPr>
        <p:spPr>
          <a:xfrm>
            <a:off x="961784" y="6555579"/>
            <a:ext cx="10265400" cy="11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 algn="ctr">
              <a:lnSpc>
                <a:spcPct val="140151"/>
              </a:lnSpc>
              <a:buClr>
                <a:schemeClr val="dk1"/>
              </a:buClr>
              <a:buSzPts val="660"/>
            </a:pPr>
            <a:r>
              <a:rPr lang="en-US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KHWOPA COLLEGE OF ENGINEERING|Major Project Defense|Secure Document Management System|10th August 2026</a:t>
            </a:r>
            <a:endParaRPr lang="en-US" sz="1000">
              <a:solidFill>
                <a:schemeClr val="dk1"/>
              </a:solidFill>
            </a:endParaRPr>
          </a:p>
          <a:p>
            <a:pPr lvl="0" algn="ctr">
              <a:lnSpc>
                <a:spcPct val="140151"/>
              </a:lnSpc>
              <a:buSzPts val="660"/>
            </a:pPr>
            <a:endParaRPr lang="en-US" sz="10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82" name="Google Shape;82;p7"/>
          <p:cNvPicPr preferRelativeResize="0"/>
          <p:nvPr/>
        </p:nvPicPr>
        <p:blipFill>
          <a:blip r:embed="rId3">
            <a:alphaModFix/>
          </a:blip>
          <a:srcRect l="2" r="2"/>
          <a:stretch/>
        </p:blipFill>
        <p:spPr>
          <a:xfrm>
            <a:off x="11475720" y="402336"/>
            <a:ext cx="457200" cy="4572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83" name="Table 82"/>
          <p:cNvGraphicFramePr>
            <a:graphicFrameLocks noGrp="1"/>
          </p:cNvGraphicFramePr>
          <p:nvPr/>
        </p:nvGraphicFramePr>
        <p:xfrm>
          <a:off x="1005840" y="932688"/>
          <a:ext cx="10149840" cy="38404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60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9134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Montserrat"/>
                        </a:rPr>
                        <a:t>Test Case</a:t>
                      </a:r>
                    </a:p>
                  </a:txBody>
                  <a:tcPr marL="54864" marR="54864" marT="18288" marB="18288"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Montserrat"/>
                        </a:rPr>
                        <a:t>Expected Result</a:t>
                      </a:r>
                    </a:p>
                  </a:txBody>
                  <a:tcPr marL="54864" marR="54864" marT="18288" marB="18288"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Montserrat"/>
                        </a:rPr>
                        <a:t>Status</a:t>
                      </a:r>
                    </a:p>
                  </a:txBody>
                  <a:tcPr marL="54864" marR="54864" marT="18288" marB="18288" anchor="ctr">
                    <a:solidFill>
                      <a:srgbClr val="1E3A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9134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333333"/>
                          </a:solidFill>
                          <a:latin typeface="Montserrat"/>
                        </a:rPr>
                        <a:t>Register a new user</a:t>
                      </a:r>
                    </a:p>
                  </a:txBody>
                  <a:tcPr marL="54864" marR="54864" marT="18288" marB="18288" anchor="ctr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333333"/>
                          </a:solidFill>
                          <a:latin typeface="Montserrat"/>
                        </a:rPr>
                        <a:t>User added to users.json with a hashed password</a:t>
                      </a:r>
                    </a:p>
                  </a:txBody>
                  <a:tcPr marL="54864" marR="54864" marT="18288" marB="18288" anchor="ctr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2E7D32"/>
                          </a:solidFill>
                          <a:latin typeface="Montserrat"/>
                        </a:rPr>
                        <a:t>Pass</a:t>
                      </a:r>
                    </a:p>
                  </a:txBody>
                  <a:tcPr marL="54864" marR="54864" marT="18288" marB="18288" anchor="ctr">
                    <a:solidFill>
                      <a:srgbClr val="FBF7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9134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333333"/>
                          </a:solidFill>
                          <a:latin typeface="Montserrat"/>
                        </a:rPr>
                        <a:t>Login with correct credentials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333333"/>
                          </a:solidFill>
                          <a:latin typeface="Montserrat"/>
                        </a:rPr>
                        <a:t>Access granted to the main window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2E7D32"/>
                          </a:solidFill>
                          <a:latin typeface="Montserrat"/>
                        </a:rPr>
                        <a:t>Pass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9134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333333"/>
                          </a:solidFill>
                          <a:latin typeface="Montserrat"/>
                        </a:rPr>
                        <a:t>Login with incorrect password</a:t>
                      </a:r>
                    </a:p>
                  </a:txBody>
                  <a:tcPr marL="54864" marR="54864" marT="18288" marB="18288" anchor="ctr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333333"/>
                          </a:solidFill>
                          <a:latin typeface="Montserrat"/>
                        </a:rPr>
                        <a:t>Access denied, error shown</a:t>
                      </a:r>
                    </a:p>
                  </a:txBody>
                  <a:tcPr marL="54864" marR="54864" marT="18288" marB="18288" anchor="ctr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2E7D32"/>
                          </a:solidFill>
                          <a:latin typeface="Montserrat"/>
                        </a:rPr>
                        <a:t>Pass</a:t>
                      </a:r>
                    </a:p>
                  </a:txBody>
                  <a:tcPr marL="54864" marR="54864" marT="18288" marB="18288" anchor="ctr">
                    <a:solidFill>
                      <a:srgbClr val="FBF7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9134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333333"/>
                          </a:solidFill>
                          <a:latin typeface="Montserrat"/>
                        </a:rPr>
                        <a:t>Add a document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333333"/>
                          </a:solidFill>
                          <a:latin typeface="Montserrat"/>
                        </a:rPr>
                        <a:t>Document encrypted, stored, and visible in the list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2E7D32"/>
                          </a:solidFill>
                          <a:latin typeface="Montserrat"/>
                        </a:rPr>
                        <a:t>Pass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9134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333333"/>
                          </a:solidFill>
                          <a:latin typeface="Montserrat"/>
                        </a:rPr>
                        <a:t>View a document</a:t>
                      </a:r>
                    </a:p>
                  </a:txBody>
                  <a:tcPr marL="54864" marR="54864" marT="18288" marB="18288" anchor="ctr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333333"/>
                          </a:solidFill>
                          <a:latin typeface="Montserrat"/>
                        </a:rPr>
                        <a:t>Content correctly decrypted and displayed</a:t>
                      </a:r>
                    </a:p>
                  </a:txBody>
                  <a:tcPr marL="54864" marR="54864" marT="18288" marB="18288" anchor="ctr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2E7D32"/>
                          </a:solidFill>
                          <a:latin typeface="Montserrat"/>
                        </a:rPr>
                        <a:t>Pass</a:t>
                      </a:r>
                    </a:p>
                  </a:txBody>
                  <a:tcPr marL="54864" marR="54864" marT="18288" marB="18288" anchor="ctr">
                    <a:solidFill>
                      <a:srgbClr val="FBF7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9134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333333"/>
                          </a:solidFill>
                          <a:latin typeface="Montserrat"/>
                        </a:rPr>
                        <a:t>Search documents by title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333333"/>
                          </a:solidFill>
                          <a:latin typeface="Montserrat"/>
                        </a:rPr>
                        <a:t>Matching documents returned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2E7D32"/>
                          </a:solidFill>
                          <a:latin typeface="Montserrat"/>
                        </a:rPr>
                        <a:t>Pass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9134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333333"/>
                          </a:solidFill>
                          <a:latin typeface="Montserrat"/>
                        </a:rPr>
                        <a:t>Hide a message in an image</a:t>
                      </a:r>
                    </a:p>
                  </a:txBody>
                  <a:tcPr marL="54864" marR="54864" marT="18288" marB="18288" anchor="ctr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333333"/>
                          </a:solidFill>
                          <a:latin typeface="Montserrat"/>
                        </a:rPr>
                        <a:t>encoded.png produced, image visually unchanged</a:t>
                      </a:r>
                    </a:p>
                  </a:txBody>
                  <a:tcPr marL="54864" marR="54864" marT="18288" marB="18288" anchor="ctr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2E7D32"/>
                          </a:solidFill>
                          <a:latin typeface="Montserrat"/>
                        </a:rPr>
                        <a:t>Pass</a:t>
                      </a:r>
                    </a:p>
                  </a:txBody>
                  <a:tcPr marL="54864" marR="54864" marT="18288" marB="18288" anchor="ctr">
                    <a:solidFill>
                      <a:srgbClr val="FBF7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9134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333333"/>
                          </a:solidFill>
                          <a:latin typeface="Montserrat"/>
                        </a:rPr>
                        <a:t>Extract a message from an image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333333"/>
                          </a:solidFill>
                          <a:latin typeface="Montserrat"/>
                        </a:rPr>
                        <a:t>Original hidden message correctly recovered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2E7D32"/>
                          </a:solidFill>
                          <a:latin typeface="Montserrat"/>
                        </a:rPr>
                        <a:t>Pass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9134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333333"/>
                          </a:solidFill>
                          <a:latin typeface="Montserrat"/>
                        </a:rPr>
                        <a:t>Check password strength</a:t>
                      </a:r>
                    </a:p>
                  </a:txBody>
                  <a:tcPr marL="54864" marR="54864" marT="18288" marB="18288" anchor="ctr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333333"/>
                          </a:solidFill>
                          <a:latin typeface="Montserrat"/>
                        </a:rPr>
                        <a:t>Correct rating and feedback shown</a:t>
                      </a:r>
                    </a:p>
                  </a:txBody>
                  <a:tcPr marL="54864" marR="54864" marT="18288" marB="18288" anchor="ctr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2E7D32"/>
                          </a:solidFill>
                          <a:latin typeface="Montserrat"/>
                        </a:rPr>
                        <a:t>Pass</a:t>
                      </a:r>
                    </a:p>
                  </a:txBody>
                  <a:tcPr marL="54864" marR="54864" marT="18288" marB="18288" anchor="ctr">
                    <a:solidFill>
                      <a:srgbClr val="FBF7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9140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333333"/>
                          </a:solidFill>
                          <a:latin typeface="Montserrat"/>
                        </a:rPr>
                        <a:t>Generate a password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333333"/>
                          </a:solidFill>
                          <a:latin typeface="Montserrat"/>
                        </a:rPr>
                        <a:t>Password meeting all criteria produced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2E7D32"/>
                          </a:solidFill>
                          <a:latin typeface="Montserrat"/>
                        </a:rPr>
                        <a:t>Pass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84" name="TextBox 83"/>
          <p:cNvSpPr txBox="1"/>
          <p:nvPr/>
        </p:nvSpPr>
        <p:spPr>
          <a:xfrm>
            <a:off x="1005840" y="4956048"/>
            <a:ext cx="10149840" cy="310896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/>
            <a:r>
              <a:rPr sz="1100" b="0" i="0">
                <a:solidFill>
                  <a:srgbClr val="1E3A8A"/>
                </a:solidFill>
                <a:latin typeface="Montserrat"/>
              </a:rPr>
              <a:t>Table 6.1: Test Cases and Results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005840" y="5349240"/>
            <a:ext cx="10149840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85750" indent="-247650">
              <a:spcBef>
                <a:spcPts val="500"/>
              </a:spcBef>
              <a:buClr>
                <a:srgbClr val="C99700"/>
              </a:buClr>
              <a:buFont typeface="Noto Sans Symbols"/>
              <a:buChar char="●"/>
            </a:pPr>
            <a:r>
              <a:rPr sz="1100" b="0" i="0" dirty="0">
                <a:solidFill>
                  <a:srgbClr val="333333"/>
                </a:solidFill>
                <a:latin typeface="Montserrat"/>
              </a:rPr>
              <a:t>All three security layers passed testing, alone and together — login blocks unauthorized access, encryption keeps stored content unreadable, and steganography hides and recovers messages with no visible change to the image.</a:t>
            </a:r>
          </a:p>
          <a:p>
            <a:pPr marL="285750" indent="-247650">
              <a:spcBef>
                <a:spcPts val="500"/>
              </a:spcBef>
              <a:buClr>
                <a:srgbClr val="C99700"/>
              </a:buClr>
              <a:buFont typeface="Noto Sans Symbols"/>
              <a:buChar char="●"/>
            </a:pPr>
            <a:r>
              <a:rPr sz="1100" b="0" i="0" dirty="0">
                <a:solidFill>
                  <a:srgbClr val="333333"/>
                </a:solidFill>
                <a:latin typeface="Montserrat"/>
              </a:rPr>
              <a:t>The hidden message size depends on the image size; when a message is too big, the system shows a clear error instead of cutting it off.</a:t>
            </a:r>
          </a:p>
        </p:txBody>
      </p:sp>
      <p:sp>
        <p:nvSpPr>
          <p:cNvPr id="86" name="Rectangle 85"/>
          <p:cNvSpPr/>
          <p:nvPr/>
        </p:nvSpPr>
        <p:spPr>
          <a:xfrm>
            <a:off x="0" y="877824"/>
            <a:ext cx="12191695" cy="41148"/>
          </a:xfrm>
          <a:prstGeom prst="rect">
            <a:avLst/>
          </a:prstGeom>
          <a:solidFill>
            <a:srgbClr val="C99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8"/>
          <p:cNvSpPr/>
          <p:nvPr/>
        </p:nvSpPr>
        <p:spPr>
          <a:xfrm>
            <a:off x="0" y="362901"/>
            <a:ext cx="12188952" cy="509906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25862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3190"/>
              <a:buFont typeface="Montserrat"/>
              <a:buNone/>
            </a:pPr>
            <a:r>
              <a:rPr lang="en-US" sz="319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11. Conclusion and Future Works</a:t>
            </a:r>
            <a:endParaRPr sz="1800" b="1" i="0" u="none" strike="noStrike" cap="none" dirty="0">
              <a:solidFill>
                <a:schemeClr val="dk1"/>
              </a:solidFill>
            </a:endParaRPr>
          </a:p>
        </p:txBody>
      </p:sp>
      <p:sp>
        <p:nvSpPr>
          <p:cNvPr id="89" name="Google Shape;89;p8"/>
          <p:cNvSpPr/>
          <p:nvPr/>
        </p:nvSpPr>
        <p:spPr>
          <a:xfrm>
            <a:off x="1133856" y="1874519"/>
            <a:ext cx="4937760" cy="3931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marR="0" lvl="0" indent="-317500" algn="l" rtl="0">
              <a:lnSpc>
                <a:spcPct val="125925"/>
              </a:lnSpc>
              <a:spcBef>
                <a:spcPts val="900"/>
              </a:spcBef>
              <a:spcAft>
                <a:spcPts val="0"/>
              </a:spcAft>
              <a:buClr>
                <a:srgbClr val="C99700"/>
              </a:buClr>
              <a:buSzPts val="1400"/>
              <a:buFont typeface="Montserrat"/>
              <a:buChar char="●"/>
            </a:pPr>
            <a:r>
              <a:rPr lang="en-US" sz="1600" b="0" i="0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The project shows layered document security inside one Python app.</a:t>
            </a:r>
            <a:endParaRPr i="1" dirty="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317500" algn="l" rtl="0">
              <a:lnSpc>
                <a:spcPct val="125925"/>
              </a:lnSpc>
              <a:spcBef>
                <a:spcPts val="900"/>
              </a:spcBef>
              <a:spcAft>
                <a:spcPts val="0"/>
              </a:spcAft>
              <a:buClr>
                <a:srgbClr val="C99700"/>
              </a:buClr>
              <a:buSzPts val="1400"/>
              <a:buFont typeface="Montserrat"/>
              <a:buChar char="●"/>
            </a:pPr>
            <a:r>
              <a:rPr lang="en-US" sz="1600" b="0" i="0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Login, Fernet encryption, and LSB steganography each do a clear job, and all features passed testing.</a:t>
            </a:r>
            <a:endParaRPr i="1" dirty="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317500" algn="l" rtl="0">
              <a:lnSpc>
                <a:spcPct val="125925"/>
              </a:lnSpc>
              <a:spcBef>
                <a:spcPts val="900"/>
              </a:spcBef>
              <a:spcAft>
                <a:spcPts val="0"/>
              </a:spcAft>
              <a:buClr>
                <a:srgbClr val="C99700"/>
              </a:buClr>
              <a:buSzPts val="1400"/>
              <a:buFont typeface="Montserrat"/>
              <a:buChar char="●"/>
            </a:pPr>
            <a:r>
              <a:rPr lang="en-US" sz="1600" b="0" i="0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We delivered both a command-line version and a PyQt5 desktop app.</a:t>
            </a:r>
            <a:endParaRPr i="1" dirty="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0" name="Google Shape;90;p8"/>
          <p:cNvSpPr/>
          <p:nvPr/>
        </p:nvSpPr>
        <p:spPr>
          <a:xfrm>
            <a:off x="11874706" y="6517935"/>
            <a:ext cx="123794" cy="191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8"/>
          <p:cNvSpPr txBox="1">
            <a:spLocks noGrp="1"/>
          </p:cNvSpPr>
          <p:nvPr>
            <p:ph type="sldNum" idx="12"/>
          </p:nvPr>
        </p:nvSpPr>
        <p:spPr>
          <a:xfrm>
            <a:off x="11826240" y="651510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13</a:t>
            </a:fld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8"/>
          <p:cNvSpPr/>
          <p:nvPr/>
        </p:nvSpPr>
        <p:spPr>
          <a:xfrm>
            <a:off x="961784" y="6555579"/>
            <a:ext cx="10265400" cy="11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 algn="ctr">
              <a:lnSpc>
                <a:spcPct val="140151"/>
              </a:lnSpc>
              <a:buClr>
                <a:schemeClr val="dk1"/>
              </a:buClr>
              <a:buSzPts val="660"/>
            </a:pPr>
            <a:r>
              <a:rPr lang="en-US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KHWOPA COLLEGE OF ENGINEERING|Major Project Defense|Secure Document Management System|10th August 2026</a:t>
            </a:r>
            <a:endParaRPr lang="en-US" sz="1000">
              <a:solidFill>
                <a:schemeClr val="dk1"/>
              </a:solidFill>
            </a:endParaRPr>
          </a:p>
          <a:p>
            <a:pPr lvl="0" algn="ctr">
              <a:lnSpc>
                <a:spcPct val="140151"/>
              </a:lnSpc>
              <a:buSzPts val="660"/>
            </a:pPr>
            <a:endParaRPr lang="en-US" sz="10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93" name="Google Shape;93;p8"/>
          <p:cNvPicPr preferRelativeResize="0"/>
          <p:nvPr/>
        </p:nvPicPr>
        <p:blipFill>
          <a:blip r:embed="rId3">
            <a:alphaModFix/>
          </a:blip>
          <a:srcRect l="2" r="2"/>
          <a:stretch/>
        </p:blipFill>
        <p:spPr>
          <a:xfrm>
            <a:off x="11475720" y="402336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TextBox 93"/>
          <p:cNvSpPr txBox="1"/>
          <p:nvPr/>
        </p:nvSpPr>
        <p:spPr>
          <a:xfrm>
            <a:off x="1133856" y="1325880"/>
            <a:ext cx="4937760" cy="4572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800" b="1" i="0">
                <a:solidFill>
                  <a:srgbClr val="1E3A8A"/>
                </a:solidFill>
                <a:latin typeface="Montserrat"/>
              </a:rPr>
              <a:t>Conclusion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6446520" y="1325880"/>
            <a:ext cx="4937760" cy="4572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800" b="1" i="0">
                <a:solidFill>
                  <a:srgbClr val="1E3A8A"/>
                </a:solidFill>
                <a:latin typeface="Montserrat"/>
              </a:rPr>
              <a:t>Future Enhancements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6446520" y="1874519"/>
            <a:ext cx="493776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85750" indent="-247650">
              <a:spcBef>
                <a:spcPts val="900"/>
              </a:spcBef>
              <a:buClr>
                <a:srgbClr val="C99700"/>
              </a:buClr>
              <a:buFont typeface="Noto Sans Symbols"/>
              <a:buChar char="●"/>
            </a:pPr>
            <a:r>
              <a:rPr sz="1600" b="0" i="0">
                <a:solidFill>
                  <a:srgbClr val="333333"/>
                </a:solidFill>
                <a:latin typeface="Montserrat"/>
              </a:rPr>
              <a:t>Use a real database like SQLite instead of JSON files for scalability.</a:t>
            </a:r>
          </a:p>
          <a:p>
            <a:pPr marL="285750" indent="-247650">
              <a:spcBef>
                <a:spcPts val="900"/>
              </a:spcBef>
              <a:buClr>
                <a:srgbClr val="C99700"/>
              </a:buClr>
              <a:buFont typeface="Noto Sans Symbols"/>
              <a:buChar char="●"/>
            </a:pPr>
            <a:r>
              <a:rPr sz="1600" b="0" i="0">
                <a:solidFill>
                  <a:srgbClr val="333333"/>
                </a:solidFill>
                <a:latin typeface="Montserrat"/>
              </a:rPr>
              <a:t>Add network support so users can share documents across devices.</a:t>
            </a:r>
          </a:p>
          <a:p>
            <a:pPr marL="285750" indent="-247650">
              <a:spcBef>
                <a:spcPts val="900"/>
              </a:spcBef>
              <a:buClr>
                <a:srgbClr val="C99700"/>
              </a:buClr>
              <a:buFont typeface="Noto Sans Symbols"/>
              <a:buChar char="●"/>
            </a:pPr>
            <a:r>
              <a:rPr sz="1600" b="0" i="0">
                <a:solidFill>
                  <a:srgbClr val="333333"/>
                </a:solidFill>
                <a:latin typeface="Montserrat"/>
              </a:rPr>
              <a:t>Support more carriers such as audio, and add role-based access.</a:t>
            </a:r>
          </a:p>
          <a:p>
            <a:pPr marL="285750" indent="-247650">
              <a:spcBef>
                <a:spcPts val="900"/>
              </a:spcBef>
              <a:buClr>
                <a:srgbClr val="C99700"/>
              </a:buClr>
              <a:buFont typeface="Noto Sans Symbols"/>
              <a:buChar char="●"/>
            </a:pPr>
            <a:r>
              <a:rPr sz="1600" b="0" i="0">
                <a:solidFill>
                  <a:srgbClr val="333333"/>
                </a:solidFill>
                <a:latin typeface="Montserrat"/>
              </a:rPr>
              <a:t>Add two-factor login and package the app as a standalone installer.</a:t>
            </a:r>
          </a:p>
        </p:txBody>
      </p:sp>
      <p:sp>
        <p:nvSpPr>
          <p:cNvPr id="97" name="Rectangle 96"/>
          <p:cNvSpPr/>
          <p:nvPr/>
        </p:nvSpPr>
        <p:spPr>
          <a:xfrm>
            <a:off x="0" y="877824"/>
            <a:ext cx="12191695" cy="41148"/>
          </a:xfrm>
          <a:prstGeom prst="rect">
            <a:avLst/>
          </a:prstGeom>
          <a:solidFill>
            <a:srgbClr val="C99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Rectangle 97"/>
          <p:cNvSpPr/>
          <p:nvPr/>
        </p:nvSpPr>
        <p:spPr>
          <a:xfrm>
            <a:off x="1133856" y="1783080"/>
            <a:ext cx="1554480" cy="29260"/>
          </a:xfrm>
          <a:prstGeom prst="rect">
            <a:avLst/>
          </a:prstGeom>
          <a:solidFill>
            <a:srgbClr val="C99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Rectangle 98"/>
          <p:cNvSpPr/>
          <p:nvPr/>
        </p:nvSpPr>
        <p:spPr>
          <a:xfrm>
            <a:off x="6446520" y="1783080"/>
            <a:ext cx="2606040" cy="29260"/>
          </a:xfrm>
          <a:prstGeom prst="rect">
            <a:avLst/>
          </a:prstGeom>
          <a:solidFill>
            <a:srgbClr val="C99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be8eb86bf3_3_26"/>
          <p:cNvSpPr/>
          <p:nvPr/>
        </p:nvSpPr>
        <p:spPr>
          <a:xfrm>
            <a:off x="0" y="362901"/>
            <a:ext cx="12189000" cy="510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25862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3190"/>
              <a:buFont typeface="Montserrat"/>
              <a:buNone/>
            </a:pPr>
            <a:r>
              <a:rPr lang="en-US" sz="319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12. References</a:t>
            </a:r>
            <a:endParaRPr sz="1800" b="1" i="0" u="none" strike="noStrike" cap="none" dirty="0">
              <a:solidFill>
                <a:schemeClr val="dk1"/>
              </a:solidFill>
            </a:endParaRPr>
          </a:p>
        </p:txBody>
      </p:sp>
      <p:sp>
        <p:nvSpPr>
          <p:cNvPr id="100" name="Google Shape;100;g3be8eb86bf3_3_26"/>
          <p:cNvSpPr/>
          <p:nvPr/>
        </p:nvSpPr>
        <p:spPr>
          <a:xfrm>
            <a:off x="961784" y="6555579"/>
            <a:ext cx="10265400" cy="11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 algn="ctr">
              <a:lnSpc>
                <a:spcPct val="140151"/>
              </a:lnSpc>
              <a:buClr>
                <a:schemeClr val="dk1"/>
              </a:buClr>
              <a:buSzPts val="660"/>
            </a:pPr>
            <a:r>
              <a:rPr lang="en-US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KHWOPA COLLEGE OF ENGINEERING|Major Project Defense|Secure Document Management System|10th August 2026</a:t>
            </a:r>
            <a:endParaRPr lang="en-US" sz="1000">
              <a:solidFill>
                <a:schemeClr val="dk1"/>
              </a:solidFill>
            </a:endParaRPr>
          </a:p>
          <a:p>
            <a:pPr lvl="0" algn="ctr">
              <a:lnSpc>
                <a:spcPct val="140151"/>
              </a:lnSpc>
              <a:buSzPts val="660"/>
            </a:pPr>
            <a:endParaRPr lang="en-US" sz="1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1" name="Google Shape;101;g3be8eb86bf3_3_26"/>
          <p:cNvSpPr/>
          <p:nvPr/>
        </p:nvSpPr>
        <p:spPr>
          <a:xfrm>
            <a:off x="11884228" y="6517935"/>
            <a:ext cx="114300" cy="19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g3be8eb86bf3_3_26"/>
          <p:cNvSpPr txBox="1">
            <a:spLocks noGrp="1"/>
          </p:cNvSpPr>
          <p:nvPr>
            <p:ph type="sldNum" idx="12"/>
          </p:nvPr>
        </p:nvSpPr>
        <p:spPr>
          <a:xfrm>
            <a:off x="11826240" y="6515100"/>
            <a:ext cx="8001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14</a:t>
            </a:fld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g3be8eb86bf3_3_26"/>
          <p:cNvSpPr txBox="1"/>
          <p:nvPr/>
        </p:nvSpPr>
        <p:spPr>
          <a:xfrm>
            <a:off x="2033300" y="4685500"/>
            <a:ext cx="7716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endParaRPr/>
          </a:p>
        </p:txBody>
      </p:sp>
      <p:sp>
        <p:nvSpPr>
          <p:cNvPr id="104" name="Google Shape;104;g3be8eb86bf3_3_26"/>
          <p:cNvSpPr txBox="1"/>
          <p:nvPr/>
        </p:nvSpPr>
        <p:spPr>
          <a:xfrm>
            <a:off x="1060704" y="1051560"/>
            <a:ext cx="10058400" cy="4754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300" b="0" i="0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[1] Python Software Foundation, “</a:t>
            </a:r>
            <a:r>
              <a:rPr lang="en-US" sz="1300" b="0" i="0" dirty="0" err="1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hashlib</a:t>
            </a:r>
            <a:r>
              <a:rPr lang="en-US" sz="1300" b="0" i="0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 — Secure hashes and message digests,” Python 3 Documentation. [Online]. Available: https://docs.python.org/3/library/hashlib.html</a:t>
            </a:r>
            <a:endParaRPr dirty="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300" b="0" i="0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[2] Riverbank Computing, “PyQt5 Reference Guide.” [Online]. Available: https://www.riverbankcomputing.com/static/Docs/PyQt5/</a:t>
            </a:r>
            <a:endParaRPr dirty="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300" b="0" i="0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[3] Python Cryptographic Authority, “Fernet (symmetric encryption),” cryptography documentation. [Online]. Available: https://cryptography.io/en/latest/fernet/</a:t>
            </a:r>
            <a:endParaRPr dirty="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300" b="0" i="0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[4] “Pillow (PIL Fork) Documentation.” [Online]. Available: https://pillow.readthedocs.io/</a:t>
            </a:r>
            <a:endParaRPr dirty="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300" b="0" i="0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[5] K. Moriarty, B. Kaliski, and A. Rusch, “PKCS #5: Password-Based Cryptography Specification Version 2.1,” RFC 8018, IETF, Jan. 2017.</a:t>
            </a:r>
            <a:endParaRPr dirty="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300" b="0" i="0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[6] Team </a:t>
            </a:r>
            <a:r>
              <a:rPr lang="en-US" sz="1300" b="0" i="0" dirty="0" err="1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ByteForge</a:t>
            </a:r>
            <a:r>
              <a:rPr lang="en-US" sz="1300" b="0" i="0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, “</a:t>
            </a:r>
            <a:r>
              <a:rPr lang="en-US" sz="1300" b="0" i="0" dirty="0" err="1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SecureDoc</a:t>
            </a:r>
            <a:r>
              <a:rPr lang="en-US" sz="1300" b="0" i="0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 — Project Source Code,” GitHub repository. [Online]. Available: https://github.com/RiyanDhau/securedoc.git</a:t>
            </a:r>
          </a:p>
        </p:txBody>
      </p:sp>
      <p:pic>
        <p:nvPicPr>
          <p:cNvPr id="105" name="Google Shape;105;g3be8eb86bf3_3_26"/>
          <p:cNvPicPr preferRelativeResize="0"/>
          <p:nvPr/>
        </p:nvPicPr>
        <p:blipFill>
          <a:blip r:embed="rId3">
            <a:alphaModFix/>
          </a:blip>
          <a:srcRect l="2" r="2"/>
          <a:stretch/>
        </p:blipFill>
        <p:spPr>
          <a:xfrm>
            <a:off x="11475720" y="402336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Rectangle 105"/>
          <p:cNvSpPr/>
          <p:nvPr/>
        </p:nvSpPr>
        <p:spPr>
          <a:xfrm>
            <a:off x="0" y="877824"/>
            <a:ext cx="12191695" cy="41148"/>
          </a:xfrm>
          <a:prstGeom prst="rect">
            <a:avLst/>
          </a:prstGeom>
          <a:solidFill>
            <a:srgbClr val="C99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9"/>
          <p:cNvSpPr/>
          <p:nvPr/>
        </p:nvSpPr>
        <p:spPr>
          <a:xfrm>
            <a:off x="-280634" y="2454251"/>
            <a:ext cx="7305477" cy="637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502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780"/>
              <a:buFont typeface="Montserrat"/>
              <a:buNone/>
            </a:pPr>
            <a:r>
              <a:rPr lang="en-US" sz="6600" b="1" i="0" u="none" strike="noStrike" cap="none" dirty="0">
                <a:solidFill>
                  <a:srgbClr val="C99700"/>
                </a:solidFill>
                <a:latin typeface="Montserrat"/>
                <a:ea typeface="Montserrat"/>
                <a:cs typeface="Montserrat"/>
                <a:sym typeface="Montserrat"/>
              </a:rPr>
              <a:t>THANK YOU! </a:t>
            </a:r>
            <a:endParaRPr sz="3200" b="1" i="0" u="none" strike="noStrike" cap="none" dirty="0">
              <a:solidFill>
                <a:schemeClr val="dk1"/>
              </a:solidFill>
            </a:endParaRPr>
          </a:p>
        </p:txBody>
      </p:sp>
      <p:sp>
        <p:nvSpPr>
          <p:cNvPr id="112" name="Rectangle 111"/>
          <p:cNvSpPr/>
          <p:nvPr/>
        </p:nvSpPr>
        <p:spPr>
          <a:xfrm>
            <a:off x="2195641" y="3387492"/>
            <a:ext cx="1828800" cy="32004"/>
          </a:xfrm>
          <a:prstGeom prst="rect">
            <a:avLst/>
          </a:prstGeom>
          <a:solidFill>
            <a:srgbClr val="C99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13" name="TextBox 112"/>
          <p:cNvSpPr txBox="1"/>
          <p:nvPr/>
        </p:nvSpPr>
        <p:spPr>
          <a:xfrm>
            <a:off x="1469924" y="6204305"/>
            <a:ext cx="94457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dirty="0">
                <a:solidFill>
                  <a:schemeClr val="tx1"/>
                </a:solidFill>
                <a:latin typeface="Montserrat"/>
              </a:rPr>
              <a:t>Secure Document Management System Using Steganography</a:t>
            </a:r>
            <a:endParaRPr lang="en-GB" sz="1800" dirty="0">
              <a:solidFill>
                <a:schemeClr val="tx1"/>
              </a:solidFill>
              <a:latin typeface="Montserrat"/>
            </a:endParaRPr>
          </a:p>
          <a:p>
            <a:pPr algn="ctr"/>
            <a:r>
              <a:rPr lang="en-GB" sz="1800" dirty="0">
                <a:solidFill>
                  <a:schemeClr val="tx1"/>
                </a:solidFill>
                <a:latin typeface="Montserrat"/>
              </a:rPr>
              <a:t>BYTEFORGE</a:t>
            </a:r>
            <a:endParaRPr sz="1800" dirty="0">
              <a:solidFill>
                <a:schemeClr val="tx1"/>
              </a:solidFill>
              <a:latin typeface="Montserra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EA54721-DACB-BD02-5F3C-4BAA818E8F53}"/>
              </a:ext>
            </a:extLst>
          </p:cNvPr>
          <p:cNvSpPr txBox="1"/>
          <p:nvPr/>
        </p:nvSpPr>
        <p:spPr>
          <a:xfrm>
            <a:off x="452175" y="3747321"/>
            <a:ext cx="966521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Questions &amp; discussion welcome — Secure Document Management System Using Steganography</a:t>
            </a:r>
            <a:endParaRPr lang="en-US" b="1" dirty="0">
              <a:solidFill>
                <a:schemeClr val="tx1"/>
              </a:solidFill>
              <a:latin typeface="MONTSERRAT" panose="00000500000000000000" pitchFamily="2" charset="0"/>
            </a:endParaRPr>
          </a:p>
        </p:txBody>
      </p:sp>
      <p:pic>
        <p:nvPicPr>
          <p:cNvPr id="4" name="Image 0" descr="assets/logo.png">
            <a:extLst>
              <a:ext uri="{FF2B5EF4-FFF2-40B4-BE49-F238E27FC236}">
                <a16:creationId xmlns:a16="http://schemas.microsoft.com/office/drawing/2014/main" id="{7B034E68-A9CF-2F4C-6463-8C0534A2F2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174" y="247280"/>
            <a:ext cx="892656" cy="89265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6ABE1CB-F478-0653-23DF-CC30D3881952}"/>
              </a:ext>
            </a:extLst>
          </p:cNvPr>
          <p:cNvSpPr txBox="1"/>
          <p:nvPr/>
        </p:nvSpPr>
        <p:spPr>
          <a:xfrm>
            <a:off x="452175" y="1795586"/>
            <a:ext cx="83406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b="1" kern="0" spc="200" dirty="0">
                <a:solidFill>
                  <a:srgbClr val="EC1977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A MAJOR PROJECT PRESENTATION  ·  TEAM BYTEFORGE</a:t>
            </a:r>
            <a:endParaRPr lang="en-US" sz="1800" dirty="0">
              <a:latin typeface="MONTSERRAT" panose="00000500000000000000" pitchFamily="2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223</TotalTime>
  <Words>1679</Words>
  <Application>Microsoft Office PowerPoint</Application>
  <PresentationFormat>Widescreen</PresentationFormat>
  <Paragraphs>203</Paragraphs>
  <Slides>15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Arial</vt:lpstr>
      <vt:lpstr>MONTSERRAT</vt:lpstr>
      <vt:lpstr>MONTSERRAT</vt:lpstr>
      <vt:lpstr>Noto Sans Symbols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Saugat Singh</dc:creator>
  <cp:lastModifiedBy>Biraj Khatri</cp:lastModifiedBy>
  <cp:revision>9</cp:revision>
  <dcterms:created xsi:type="dcterms:W3CDTF">2023-10-12T01:13:00Z</dcterms:created>
  <dcterms:modified xsi:type="dcterms:W3CDTF">2026-08-10T06:45:56Z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A0382EAE0AF447C0B59A4585B5602F6B_12</vt:lpwstr>
  </property>
  <property fmtid="{D5CDD505-2E9C-101B-9397-08002B2CF9AE}" pid="3" name="KSOProductBuildVer">
    <vt:lpwstr>1033-12.2.0.13215</vt:lpwstr>
  </property>
</Properties>
</file>